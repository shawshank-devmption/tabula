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3D3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43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6E6A63"/>
                </a:solidFill>
                <a:latin typeface="Helvetica Neue"/>
              </a:rPr>
              <a:t>BCSE307P · COMPILER DESIGN LABORATORY · FALL 2026–27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54303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400" b="0" i="0">
                <a:solidFill>
                  <a:srgbClr val="191919"/>
                </a:solidFill>
                <a:latin typeface="Georgia"/>
              </a:rPr>
              <a:t>Tabula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88920"/>
            <a:ext cx="88696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100" b="0" i="0">
                <a:solidFill>
                  <a:srgbClr val="73706A"/>
                </a:solidFill>
                <a:latin typeface="Georgia"/>
              </a:rPr>
              <a:t>A Spreadsheet Engine with a Compiled Formula Language, Dependency-Graph Analysis, and Incremental Recomputation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224528"/>
            <a:ext cx="10543032" cy="12700"/>
          </a:xfrm>
          <a:prstGeom prst="rect">
            <a:avLst/>
          </a:prstGeom>
          <a:solidFill>
            <a:srgbClr val="C9C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49884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6E6A63"/>
                </a:solidFill>
                <a:latin typeface="Helvetica Neue"/>
              </a:rPr>
              <a:t>PHASE 1 — REVIEW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8006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0" i="0">
                <a:solidFill>
                  <a:srgbClr val="191919"/>
                </a:solidFill>
                <a:latin typeface="Georgia"/>
              </a:rPr>
              <a:t>Problem Definition and System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623560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1" i="0">
                <a:solidFill>
                  <a:srgbClr val="191919"/>
                </a:solidFill>
                <a:latin typeface="Helvetica Neue"/>
              </a:rPr>
              <a:t>Shashank Bhat M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200" b="0" i="0">
                <a:solidFill>
                  <a:srgbClr val="73706A"/>
                </a:solidFill>
                <a:latin typeface="Helvetica Neue"/>
              </a:rPr>
              <a:t>24BDS0390  ·  B.Tech Computer Science and Engineering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73706A"/>
                </a:solidFill>
                <a:latin typeface="Helvetica Neue"/>
              </a:rPr>
              <a:t>Faculty Guide  ·  Prof. Ranjithkumar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5623560"/>
            <a:ext cx="368503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73706A"/>
                </a:solidFill>
                <a:latin typeface="Helvetica Neue"/>
              </a:rPr>
              <a:t>Individual project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73706A"/>
                </a:solidFill>
                <a:latin typeface="Helvetica Neue"/>
              </a:rPr>
              <a:t>Three phases · Three reviews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6E6A63"/>
                </a:solidFill>
                <a:latin typeface="Helvetica Neue"/>
              </a:rPr>
              <a:t>REVIEW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0" i="0">
                <a:solidFill>
                  <a:srgbClr val="191919"/>
                </a:solidFill>
                <a:latin typeface="Georgia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89888"/>
            <a:ext cx="10543032" cy="12700"/>
          </a:xfrm>
          <a:prstGeom prst="rect">
            <a:avLst/>
          </a:prstGeom>
          <a:solidFill>
            <a:srgbClr val="C9C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92640" y="475488"/>
            <a:ext cx="16733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73706A"/>
                </a:solidFill>
                <a:latin typeface="Helvetica Neue"/>
              </a:rPr>
              <a:t>TABULA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327648"/>
            <a:ext cx="4846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73706A"/>
                </a:solidFill>
                <a:latin typeface="Helvetica Neue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920240"/>
            <a:ext cx="420624" cy="420624"/>
          </a:xfrm>
          <a:prstGeom prst="roundRect">
            <a:avLst>
              <a:gd name="adj" fmla="val 20000"/>
            </a:avLst>
          </a:prstGeom>
          <a:solidFill>
            <a:srgbClr val="E4E1D7"/>
          </a:solidFill>
          <a:ln w="9525">
            <a:solidFill>
              <a:srgbClr val="C9C5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420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6E6A63"/>
                </a:solidFill>
                <a:latin typeface="Helvetica Neue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1975104"/>
            <a:ext cx="4206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191919"/>
                </a:solidFill>
                <a:latin typeface="Helvetica Neue"/>
              </a:rPr>
              <a:t>Problem statement and motivation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880360"/>
            <a:ext cx="420624" cy="420624"/>
          </a:xfrm>
          <a:prstGeom prst="roundRect">
            <a:avLst>
              <a:gd name="adj" fmla="val 20000"/>
            </a:avLst>
          </a:prstGeom>
          <a:solidFill>
            <a:srgbClr val="E4E1D7"/>
          </a:solidFill>
          <a:ln w="9525">
            <a:solidFill>
              <a:srgbClr val="C9C5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971800"/>
            <a:ext cx="420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6E6A63"/>
                </a:solidFill>
                <a:latin typeface="Helvetica Neue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1328" y="2935224"/>
            <a:ext cx="4206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191919"/>
                </a:solidFill>
                <a:latin typeface="Helvetica Neue"/>
              </a:rPr>
              <a:t>Objectives and scope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840480"/>
            <a:ext cx="420624" cy="420624"/>
          </a:xfrm>
          <a:prstGeom prst="roundRect">
            <a:avLst>
              <a:gd name="adj" fmla="val 20000"/>
            </a:avLst>
          </a:prstGeom>
          <a:solidFill>
            <a:srgbClr val="E4E1D7"/>
          </a:solidFill>
          <a:ln w="9525">
            <a:solidFill>
              <a:srgbClr val="C9C5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931920"/>
            <a:ext cx="420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6E6A63"/>
                </a:solidFill>
                <a:latin typeface="Helvetica Neue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3895344"/>
            <a:ext cx="4206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191919"/>
                </a:solidFill>
                <a:latin typeface="Helvetica Neue"/>
              </a:rPr>
              <a:t>Background study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800600"/>
            <a:ext cx="420624" cy="420624"/>
          </a:xfrm>
          <a:prstGeom prst="roundRect">
            <a:avLst>
              <a:gd name="adj" fmla="val 20000"/>
            </a:avLst>
          </a:prstGeom>
          <a:solidFill>
            <a:srgbClr val="E4E1D7"/>
          </a:solidFill>
          <a:ln w="9525">
            <a:solidFill>
              <a:srgbClr val="C9C5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892040"/>
            <a:ext cx="420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6E6A63"/>
                </a:solidFill>
                <a:latin typeface="Helvetica Neue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81328" y="4855464"/>
            <a:ext cx="4206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191919"/>
                </a:solidFill>
                <a:latin typeface="Helvetica Neue"/>
              </a:rPr>
              <a:t>Compiler concepts covered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1920240"/>
            <a:ext cx="420624" cy="420624"/>
          </a:xfrm>
          <a:prstGeom prst="roundRect">
            <a:avLst>
              <a:gd name="adj" fmla="val 20000"/>
            </a:avLst>
          </a:prstGeom>
          <a:solidFill>
            <a:srgbClr val="E4E1D7"/>
          </a:solidFill>
          <a:ln w="9525">
            <a:solidFill>
              <a:srgbClr val="C9C5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2011680"/>
            <a:ext cx="420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6E6A63"/>
                </a:solidFill>
                <a:latin typeface="Helvetica Neue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67728" y="1975104"/>
            <a:ext cx="4206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191919"/>
                </a:solidFill>
                <a:latin typeface="Helvetica Neue"/>
              </a:rPr>
              <a:t>System architecture and language design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2880360"/>
            <a:ext cx="420624" cy="420624"/>
          </a:xfrm>
          <a:prstGeom prst="roundRect">
            <a:avLst>
              <a:gd name="adj" fmla="val 20000"/>
            </a:avLst>
          </a:prstGeom>
          <a:solidFill>
            <a:srgbClr val="E4E1D7"/>
          </a:solidFill>
          <a:ln w="9525">
            <a:solidFill>
              <a:srgbClr val="C9C5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2971800"/>
            <a:ext cx="420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6E6A63"/>
                </a:solidFill>
                <a:latin typeface="Helvetica Neue"/>
              </a:rP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2935224"/>
            <a:ext cx="4206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191919"/>
                </a:solidFill>
                <a:latin typeface="Helvetica Neue"/>
              </a:rPr>
              <a:t>Innovation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3840480"/>
            <a:ext cx="420624" cy="420624"/>
          </a:xfrm>
          <a:prstGeom prst="roundRect">
            <a:avLst>
              <a:gd name="adj" fmla="val 20000"/>
            </a:avLst>
          </a:prstGeom>
          <a:solidFill>
            <a:srgbClr val="E4E1D7"/>
          </a:solidFill>
          <a:ln w="9525">
            <a:solidFill>
              <a:srgbClr val="C9C5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3931920"/>
            <a:ext cx="420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6E6A63"/>
                </a:solidFill>
                <a:latin typeface="Helvetica Neue"/>
              </a:rPr>
              <a:t>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7728" y="3895344"/>
            <a:ext cx="4206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191919"/>
                </a:solidFill>
                <a:latin typeface="Helvetica Neue"/>
              </a:rPr>
              <a:t>Working prototype and test results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4800600"/>
            <a:ext cx="420624" cy="420624"/>
          </a:xfrm>
          <a:prstGeom prst="roundRect">
            <a:avLst>
              <a:gd name="adj" fmla="val 20000"/>
            </a:avLst>
          </a:prstGeom>
          <a:solidFill>
            <a:srgbClr val="E4E1D7"/>
          </a:solidFill>
          <a:ln w="9525">
            <a:solidFill>
              <a:srgbClr val="C9C5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4892040"/>
            <a:ext cx="420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6E6A63"/>
                </a:solidFill>
                <a:latin typeface="Helvetica Neue"/>
              </a:rPr>
              <a:t>08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67728" y="4855464"/>
            <a:ext cx="4206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191919"/>
                </a:solidFill>
                <a:latin typeface="Helvetica Neue"/>
              </a:rPr>
              <a:t>Roadmap for Phases 2 and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6E6A63"/>
                </a:solidFill>
                <a:latin typeface="Helvetica Neue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0" i="0">
                <a:solidFill>
                  <a:srgbClr val="191919"/>
                </a:solidFill>
                <a:latin typeface="Georgia"/>
              </a:rPr>
              <a:t>Problem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89888"/>
            <a:ext cx="10543032" cy="12700"/>
          </a:xfrm>
          <a:prstGeom prst="rect">
            <a:avLst/>
          </a:prstGeom>
          <a:solidFill>
            <a:srgbClr val="C9C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92640" y="475488"/>
            <a:ext cx="16733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73706A"/>
                </a:solidFill>
                <a:latin typeface="Helvetica Neue"/>
              </a:rPr>
              <a:t>TABULA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327648"/>
            <a:ext cx="4846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73706A"/>
                </a:solidFill>
                <a:latin typeface="Helvetica Neue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1054303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0" i="0">
                <a:solidFill>
                  <a:srgbClr val="191919"/>
                </a:solidFill>
                <a:latin typeface="Georgia"/>
              </a:rPr>
              <a:t>A spreadsheet is, computationally, a network of thousands of tiny interdependent programs.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514600"/>
            <a:ext cx="5102352" cy="1783080"/>
          </a:xfrm>
          <a:prstGeom prst="roundRect">
            <a:avLst>
              <a:gd name="adj" fmla="val 5000"/>
            </a:avLst>
          </a:prstGeom>
          <a:solidFill>
            <a:srgbClr val="FAF9F5"/>
          </a:solidFill>
          <a:ln w="9525">
            <a:solidFill>
              <a:srgbClr val="C9C5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33856" y="274320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6E6A63"/>
                </a:solidFill>
                <a:latin typeface="Helvetica Neue"/>
              </a:rPr>
              <a:t>PER FORMULA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" y="3090672"/>
            <a:ext cx="44805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350" b="0" i="0">
                <a:solidFill>
                  <a:srgbClr val="191919"/>
                </a:solidFill>
                <a:latin typeface="Helvetica Neue"/>
              </a:rPr>
              <a:t>Each formula is source code in a small expression language: it must be lexed, parsed, semantically checked, compiled, and evaluated — with errors contained so one malformed cell never corrupts the sheet.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514600"/>
            <a:ext cx="5102352" cy="1783080"/>
          </a:xfrm>
          <a:prstGeom prst="roundRect">
            <a:avLst>
              <a:gd name="adj" fmla="val 5000"/>
            </a:avLst>
          </a:prstGeom>
          <a:solidFill>
            <a:srgbClr val="FAF9F5"/>
          </a:solidFill>
          <a:ln w="9525">
            <a:solidFill>
              <a:srgbClr val="C9C5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74536" y="274320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6E6A63"/>
                </a:solidFill>
                <a:latin typeface="Helvetica Neue"/>
              </a:rPr>
              <a:t>PER SHEET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74536" y="3090672"/>
            <a:ext cx="44805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350" b="0" i="0">
                <a:solidFill>
                  <a:srgbClr val="191919"/>
                </a:solidFill>
                <a:latin typeface="Helvetica Neue"/>
              </a:rPr>
              <a:t>The formulas induce a dependency graph. The engine must detect circular references, evaluate every cell after its inputs, and avoid recomputing all N cells on every edit — which makes large sheets unusable.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617720"/>
            <a:ext cx="10543032" cy="1371600"/>
          </a:xfrm>
          <a:prstGeom prst="roundRect">
            <a:avLst>
              <a:gd name="adj" fmla="val 4000"/>
            </a:avLst>
          </a:prstGeom>
          <a:solidFill>
            <a:srgbClr val="3D3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07008" y="4846320"/>
            <a:ext cx="9784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50" b="0" i="0">
                <a:solidFill>
                  <a:srgbClr val="F0EEE6"/>
                </a:solidFill>
                <a:latin typeface="Helvetica Neue"/>
              </a:rPr>
              <a:t>No compact, transparent implementation exists that shows how these two layers work together. Commercial engines solve it at scale but are closed; textbook compiler projects compile one standalone program and never meet incremental, graph-structured recomputation.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6E6A63"/>
                </a:solidFill>
                <a:latin typeface="Helvetica Neue"/>
              </a:rPr>
              <a:t>WHY THIS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0" i="0">
                <a:solidFill>
                  <a:srgbClr val="191919"/>
                </a:solidFill>
                <a:latin typeface="Georgia"/>
              </a:rPr>
              <a:t>Motivation and Topic Relevance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89888"/>
            <a:ext cx="10543032" cy="12700"/>
          </a:xfrm>
          <a:prstGeom prst="rect">
            <a:avLst/>
          </a:prstGeom>
          <a:solidFill>
            <a:srgbClr val="C9C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92640" y="475488"/>
            <a:ext cx="16733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73706A"/>
                </a:solidFill>
                <a:latin typeface="Helvetica Neue"/>
              </a:rPr>
              <a:t>TABULA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327648"/>
            <a:ext cx="4846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73706A"/>
                </a:solidFill>
                <a:latin typeface="Helvetica Neue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1300"/>
              </a:spcAft>
            </a:pPr>
            <a:r>
              <a:rPr sz="1450">
                <a:solidFill>
                  <a:srgbClr val="6E6A63"/>
                </a:solidFill>
                <a:latin typeface="Helvetica Neue"/>
              </a:rPr>
              <a:t>— </a:t>
            </a:r>
            <a:r>
              <a:rPr sz="1450" b="1">
                <a:solidFill>
                  <a:srgbClr val="191919"/>
                </a:solidFill>
                <a:latin typeface="Helvetica Neue"/>
              </a:rPr>
              <a:t>Every classical phase is exercised. </a:t>
            </a:r>
            <a:r>
              <a:rPr sz="1450">
                <a:solidFill>
                  <a:srgbClr val="191919"/>
                </a:solidFill>
                <a:latin typeface="Helvetica Neue"/>
              </a:rPr>
              <a:t>Scanning, parsing, symbol tables, semantic checking, IR, optimization, code generation, interpretation.</a:t>
            </a:r>
          </a:p>
          <a:p>
            <a:pPr>
              <a:lnSpc>
                <a:spcPct val="122000"/>
              </a:lnSpc>
              <a:spcAft>
                <a:spcPts val="1300"/>
              </a:spcAft>
            </a:pPr>
            <a:r>
              <a:rPr sz="1450">
                <a:solidFill>
                  <a:srgbClr val="6E6A63"/>
                </a:solidFill>
                <a:latin typeface="Helvetica Neue"/>
              </a:rPr>
              <a:t>— </a:t>
            </a:r>
            <a:r>
              <a:rPr sz="1450" b="1">
                <a:solidFill>
                  <a:srgbClr val="191919"/>
                </a:solidFill>
                <a:latin typeface="Helvetica Neue"/>
              </a:rPr>
              <a:t>Beyond the single-program compiler. </a:t>
            </a:r>
            <a:r>
              <a:rPr sz="1450">
                <a:solidFill>
                  <a:srgbClr val="191919"/>
                </a:solidFill>
                <a:latin typeface="Helvetica Neue"/>
              </a:rPr>
              <a:t>Cycle detection is a whole-sheet semantic check; topological scheduling decides evaluation order.</a:t>
            </a:r>
          </a:p>
          <a:p>
            <a:pPr>
              <a:lnSpc>
                <a:spcPct val="122000"/>
              </a:lnSpc>
              <a:spcAft>
                <a:spcPts val="1300"/>
              </a:spcAft>
            </a:pPr>
            <a:r>
              <a:rPr sz="1450">
                <a:solidFill>
                  <a:srgbClr val="6E6A63"/>
                </a:solidFill>
                <a:latin typeface="Helvetica Neue"/>
              </a:rPr>
              <a:t>— </a:t>
            </a:r>
            <a:r>
              <a:rPr sz="1450" b="1">
                <a:solidFill>
                  <a:srgbClr val="191919"/>
                </a:solidFill>
                <a:latin typeface="Helvetica Neue"/>
              </a:rPr>
              <a:t>Optimization becomes measurable. </a:t>
            </a:r>
            <a:r>
              <a:rPr sz="1450">
                <a:solidFill>
                  <a:srgbClr val="191919"/>
                </a:solidFill>
                <a:latin typeface="Helvetica Neue"/>
              </a:rPr>
              <a:t>Recomputed-cell counts and bytecode reduction give quantitative Phase 3 results.</a:t>
            </a:r>
          </a:p>
          <a:p>
            <a:pPr>
              <a:lnSpc>
                <a:spcPct val="122000"/>
              </a:lnSpc>
              <a:spcAft>
                <a:spcPts val="1300"/>
              </a:spcAft>
            </a:pPr>
            <a:r>
              <a:rPr sz="1450">
                <a:solidFill>
                  <a:srgbClr val="6E6A63"/>
                </a:solidFill>
                <a:latin typeface="Helvetica Neue"/>
              </a:rPr>
              <a:t>— </a:t>
            </a:r>
            <a:r>
              <a:rPr sz="1450" b="1">
                <a:solidFill>
                  <a:srgbClr val="191919"/>
                </a:solidFill>
                <a:latin typeface="Helvetica Neue"/>
              </a:rPr>
              <a:t>The domain needs no explanation. </a:t>
            </a:r>
            <a:r>
              <a:rPr sz="1450">
                <a:solidFill>
                  <a:srgbClr val="191919"/>
                </a:solidFill>
                <a:latin typeface="Helvetica Neue"/>
              </a:rPr>
              <a:t>Every evaluator knows a spreadsheet — attention goes to how it works.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86600" y="1828800"/>
            <a:ext cx="4279392" cy="3246120"/>
          </a:xfrm>
          <a:prstGeom prst="roundRect">
            <a:avLst>
              <a:gd name="adj" fmla="val 5000"/>
            </a:avLst>
          </a:prstGeom>
          <a:solidFill>
            <a:srgbClr val="FAF9F5"/>
          </a:solidFill>
          <a:ln w="9525">
            <a:solidFill>
              <a:srgbClr val="C9C5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0" y="21031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6E6A63"/>
                </a:solidFill>
                <a:latin typeface="Helvetica Neue"/>
              </a:rPr>
              <a:t>THE CORE INSIGHT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2487168"/>
            <a:ext cx="36576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450" b="0" i="0">
                <a:solidFill>
                  <a:srgbClr val="191919"/>
                </a:solidFill>
                <a:latin typeface="Georgia"/>
              </a:rPr>
              <a:t>Editing one cell should recompute the cells that depend on it — and nothing else.
Delivering that correctly requires a compiler front end, whole-program dependency analysis, and a scheduler working together.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6E6A63"/>
                </a:solidFill>
                <a:latin typeface="Helvetica Neue"/>
              </a:rPr>
              <a:t>WHAT THE PROJECT DELIVERS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0" i="0">
                <a:solidFill>
                  <a:srgbClr val="191919"/>
                </a:solidFill>
                <a:latin typeface="Georgia"/>
              </a:rPr>
              <a:t>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89888"/>
            <a:ext cx="10543032" cy="12700"/>
          </a:xfrm>
          <a:prstGeom prst="rect">
            <a:avLst/>
          </a:prstGeom>
          <a:solidFill>
            <a:srgbClr val="C9C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92640" y="475488"/>
            <a:ext cx="16733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73706A"/>
                </a:solidFill>
                <a:latin typeface="Helvetica Neue"/>
              </a:rPr>
              <a:t>TABULA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327648"/>
            <a:ext cx="4846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73706A"/>
                </a:solidFill>
                <a:latin typeface="Helvetica Neue"/>
              </a:rPr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828800"/>
            <a:ext cx="822960" cy="30480"/>
          </a:xfrm>
          <a:prstGeom prst="rect">
            <a:avLst/>
          </a:prstGeom>
          <a:solidFill>
            <a:srgbClr val="6E6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057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6E6A63"/>
                </a:solidFill>
                <a:latin typeface="Helvetica Neue"/>
              </a:rPr>
              <a:t>FRONT 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487168"/>
            <a:ext cx="32461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1300">
                <a:solidFill>
                  <a:srgbClr val="191919"/>
                </a:solidFill>
                <a:latin typeface="Helvetica Neue"/>
              </a:rPr>
              <a:t>Design the formula language: tokens, EBNF grammar,
precedence, coercions, error semantics</a:t>
            </a:r>
          </a:p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1300">
                <a:solidFill>
                  <a:srgbClr val="191919"/>
                </a:solidFill>
                <a:latin typeface="Helvetica Neue"/>
              </a:rPr>
              <a:t>Hand-written lexer with positioned error reporting</a:t>
            </a:r>
          </a:p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1300">
                <a:solidFill>
                  <a:srgbClr val="191919"/>
                </a:solidFill>
                <a:latin typeface="Helvetica Neue"/>
              </a:rPr>
              <a:t>Recursive-descent / Pratt parser producing an AST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25696" y="1828800"/>
            <a:ext cx="822960" cy="30480"/>
          </a:xfrm>
          <a:prstGeom prst="rect">
            <a:avLst/>
          </a:prstGeom>
          <a:solidFill>
            <a:srgbClr val="6E6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25696" y="2057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6E6A63"/>
                </a:solidFill>
                <a:latin typeface="Helvetica Neue"/>
              </a:rPr>
              <a:t>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5696" y="2487168"/>
            <a:ext cx="32461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1300">
                <a:solidFill>
                  <a:srgbClr val="191919"/>
                </a:solidFill>
                <a:latin typeface="Helvetica Neue"/>
              </a:rPr>
              <a:t>Semantic analysis: function registry and named-range
symbol tables, arity, kind and bounds checking</a:t>
            </a:r>
          </a:p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1300">
                <a:solidFill>
                  <a:srgbClr val="191919"/>
                </a:solidFill>
                <a:latin typeface="Helvetica Neue"/>
              </a:rPr>
              <a:t>Extract each formula's precedent (dependency) set</a:t>
            </a:r>
          </a:p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1300">
                <a:solidFill>
                  <a:srgbClr val="191919"/>
                </a:solidFill>
                <a:latin typeface="Helvetica Neue"/>
              </a:rPr>
              <a:t>Dependency graph with circular-reference detection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28432" y="1828800"/>
            <a:ext cx="822960" cy="30480"/>
          </a:xfrm>
          <a:prstGeom prst="rect">
            <a:avLst/>
          </a:prstGeom>
          <a:solidFill>
            <a:srgbClr val="6E6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28432" y="2057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6E6A63"/>
                </a:solidFill>
                <a:latin typeface="Helvetica Neue"/>
              </a:rPr>
              <a:t>BACK END AND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2" y="2487168"/>
            <a:ext cx="32461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1300">
                <a:solidFill>
                  <a:srgbClr val="191919"/>
                </a:solidFill>
                <a:latin typeface="Helvetica Neue"/>
              </a:rPr>
              <a:t>Optimizer: constant folding, algebraic simplification,
branch elimination, bytecode peephole</a:t>
            </a:r>
          </a:p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1300">
                <a:solidFill>
                  <a:srgbClr val="191919"/>
                </a:solidFill>
                <a:latin typeface="Helvetica Neue"/>
              </a:rPr>
              <a:t>Stack-machine bytecode and evaluation VM</a:t>
            </a:r>
          </a:p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1300">
                <a:solidFill>
                  <a:srgbClr val="191919"/>
                </a:solidFill>
                <a:latin typeface="Helvetica Neue"/>
              </a:rPr>
              <a:t>Incremental recomputation in topological order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806440"/>
            <a:ext cx="105430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1">
                <a:solidFill>
                  <a:srgbClr val="73706A"/>
                </a:solidFill>
                <a:latin typeface="Helvetica Neue"/>
              </a:rPr>
              <a:t>Plus: an interactive REPL with a per-cell `explain` view, an HTML pipeline report, and validation by unit, scenario and benchmark tests.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6E6A63"/>
                </a:solidFill>
                <a:latin typeface="Helvetica Neue"/>
              </a:rPr>
              <a:t>BOUNDARIES FIXED AT PHASE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0" i="0">
                <a:solidFill>
                  <a:srgbClr val="191919"/>
                </a:solidFill>
                <a:latin typeface="Georgia"/>
              </a:rPr>
              <a:t>Scope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89888"/>
            <a:ext cx="10543032" cy="12700"/>
          </a:xfrm>
          <a:prstGeom prst="rect">
            <a:avLst/>
          </a:prstGeom>
          <a:solidFill>
            <a:srgbClr val="C9C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92640" y="475488"/>
            <a:ext cx="16733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73706A"/>
                </a:solidFill>
                <a:latin typeface="Helvetica Neue"/>
              </a:rPr>
              <a:t>TABULA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327648"/>
            <a:ext cx="4846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73706A"/>
                </a:solidFill>
                <a:latin typeface="Helvetica Neue"/>
              </a:rPr>
              <a:t>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783080"/>
          <a:ext cx="10543032" cy="35478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00200"/>
                <a:gridCol w="8942832"/>
              </a:tblGrid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050" b="1">
                          <a:solidFill>
                            <a:srgbClr val="191919"/>
                          </a:solidFill>
                          <a:latin typeface="Helvetica Neue"/>
                        </a:rPr>
                        <a:t>Area</a:t>
                      </a:r>
                    </a:p>
                  </a:txBody>
                  <a:tcPr marL="72000" marR="72000" marT="36000" marB="36000" anchor="ctr">
                    <a:solidFill>
                      <a:srgbClr val="E4E1D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050" b="1">
                          <a:solidFill>
                            <a:srgbClr val="191919"/>
                          </a:solidFill>
                          <a:latin typeface="Helvetica Neue"/>
                        </a:rPr>
                        <a:t>In scope</a:t>
                      </a:r>
                    </a:p>
                  </a:txBody>
                  <a:tcPr marL="72000" marR="72000" marT="36000" marB="36000" anchor="ctr">
                    <a:solidFill>
                      <a:srgbClr val="E4E1D7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0">
                          <a:solidFill>
                            <a:srgbClr val="191919"/>
                          </a:solidFill>
                          <a:latin typeface="Helvetica Neue"/>
                        </a:rPr>
                        <a:t>Language</a:t>
                      </a:r>
                    </a:p>
                  </a:txBody>
                  <a:tcPr marL="72000" marR="72000" marT="36000" marB="36000" anchor="ctr">
                    <a:solidFill>
                      <a:srgbClr val="FAF9F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0">
                          <a:solidFill>
                            <a:srgbClr val="191919"/>
                          </a:solidFill>
                          <a:latin typeface="Helvetica Neue"/>
                        </a:rPr>
                        <a:t>Numbers, text, booleans; relative and absolute references; ranges; named ranges;
arithmetic, concatenation and comparison operators; function calls</a:t>
                      </a:r>
                    </a:p>
                  </a:txBody>
                  <a:tcPr marL="72000" marR="72000" marT="36000" marB="36000" anchor="ctr">
                    <a:solidFill>
                      <a:srgbClr val="FAF9F5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0">
                          <a:solidFill>
                            <a:srgbClr val="191919"/>
                          </a:solidFill>
                          <a:latin typeface="Helvetica Neue"/>
                        </a:rPr>
                        <a:t>Functions</a:t>
                      </a:r>
                    </a:p>
                  </a:txBody>
                  <a:tcPr marL="72000" marR="72000" marT="36000" marB="36000" anchor="ctr">
                    <a:solidFill>
                      <a:srgbClr val="FAF9F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0">
                          <a:solidFill>
                            <a:srgbClr val="191919"/>
                          </a:solidFill>
                          <a:latin typeface="Helvetica Neue"/>
                        </a:rPr>
                        <a:t>SUM  AVG  MIN  MAX  COUNT  COUNTIF  ROUND  ABS  SQRT  MOD  POWER  IF  AND  OR
NOT  LEN  CONCAT  UPPER  LOWER  TRIM  ISNUMBER  ISBLANK</a:t>
                      </a:r>
                    </a:p>
                  </a:txBody>
                  <a:tcPr marL="72000" marR="72000" marT="36000" marB="36000" anchor="ctr">
                    <a:solidFill>
                      <a:srgbClr val="FAF9F5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0">
                          <a:solidFill>
                            <a:srgbClr val="191919"/>
                          </a:solidFill>
                          <a:latin typeface="Helvetica Neue"/>
                        </a:rPr>
                        <a:t>Compiler</a:t>
                      </a:r>
                    </a:p>
                  </a:txBody>
                  <a:tcPr marL="72000" marR="72000" marT="36000" marB="36000" anchor="ctr">
                    <a:solidFill>
                      <a:srgbClr val="FAF9F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0">
                          <a:solidFill>
                            <a:srgbClr val="191919"/>
                          </a:solidFill>
                          <a:latin typeface="Helvetica Neue"/>
                        </a:rPr>
                        <a:t>Lexer · parser + AST · semantic analyzer + symbol tables · optimizer · bytecode generator</a:t>
                      </a:r>
                    </a:p>
                  </a:txBody>
                  <a:tcPr marL="72000" marR="72000" marT="36000" marB="36000" anchor="ctr">
                    <a:solidFill>
                      <a:srgbClr val="FAF9F5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0">
                          <a:solidFill>
                            <a:srgbClr val="191919"/>
                          </a:solidFill>
                          <a:latin typeface="Helvetica Neue"/>
                        </a:rPr>
                        <a:t>Engine</a:t>
                      </a:r>
                    </a:p>
                  </a:txBody>
                  <a:tcPr marL="72000" marR="72000" marT="36000" marB="36000" anchor="ctr">
                    <a:solidFill>
                      <a:srgbClr val="FAF9F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0">
                          <a:solidFill>
                            <a:srgbClr val="191919"/>
                          </a:solidFill>
                          <a:latin typeface="Helvetica Neue"/>
                        </a:rPr>
                        <a:t>Sparse grid (A–ZZ × 1–10 000) · dependency graph · cycle detection · incremental recomputation</a:t>
                      </a:r>
                    </a:p>
                  </a:txBody>
                  <a:tcPr marL="72000" marR="72000" marT="36000" marB="36000" anchor="ctr">
                    <a:solidFill>
                      <a:srgbClr val="FAF9F5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0">
                          <a:solidFill>
                            <a:srgbClr val="191919"/>
                          </a:solidFill>
                          <a:latin typeface="Helvetica Neue"/>
                        </a:rPr>
                        <a:t>Runtime</a:t>
                      </a:r>
                    </a:p>
                  </a:txBody>
                  <a:tcPr marL="72000" marR="72000" marT="36000" marB="36000" anchor="ctr">
                    <a:solidFill>
                      <a:srgbClr val="FAF9F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0">
                          <a:solidFill>
                            <a:srgbClr val="191919"/>
                          </a:solidFill>
                          <a:latin typeface="Helvetica Neue"/>
                        </a:rPr>
                        <a:t>Stack VM · five error values · runtime error localization</a:t>
                      </a:r>
                    </a:p>
                  </a:txBody>
                  <a:tcPr marL="72000" marR="72000" marT="36000" marB="36000" anchor="ctr">
                    <a:solidFill>
                      <a:srgbClr val="FAF9F5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0">
                          <a:solidFill>
                            <a:srgbClr val="191919"/>
                          </a:solidFill>
                          <a:latin typeface="Helvetica Neue"/>
                        </a:rPr>
                        <a:t>Tooling</a:t>
                      </a:r>
                    </a:p>
                  </a:txBody>
                  <a:tcPr marL="72000" marR="72000" marT="36000" marB="36000" anchor="ctr">
                    <a:solidFill>
                      <a:srgbClr val="FAF9F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0">
                          <a:solidFill>
                            <a:srgbClr val="191919"/>
                          </a:solidFill>
                          <a:latin typeface="Helvetica Neue"/>
                        </a:rPr>
                        <a:t>REPL · per-cell explain · dependency queries · statistics · TSV load/save · HTML report</a:t>
                      </a:r>
                    </a:p>
                  </a:txBody>
                  <a:tcPr marL="72000" marR="72000" marT="36000" marB="36000" anchor="ctr">
                    <a:solidFill>
                      <a:srgbClr val="FAF9F5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22960" y="5742432"/>
            <a:ext cx="9509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6E6A63"/>
                </a:solidFill>
                <a:latin typeface="Helvetica Neue"/>
              </a:rPr>
              <a:t>OUT OF SCOPE — DOCUMENTED AS FUTURE ENHANCEMENTS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73706A"/>
                </a:solidFill>
                <a:latin typeface="Helvetica Neue"/>
              </a:rPr>
              <a:t>Graphical UI · volatile functions and dates · cross-sheet references · row/column insertion with reference rewriting · array formulas · charting, formatting, undo/redo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6E6A63"/>
                </a:solidFill>
                <a:latin typeface="Helvetica Neue"/>
              </a:rPr>
              <a:t>EXISTING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0" i="0">
                <a:solidFill>
                  <a:srgbClr val="191919"/>
                </a:solidFill>
                <a:latin typeface="Georgia"/>
              </a:rPr>
              <a:t>Background Study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89888"/>
            <a:ext cx="10543032" cy="12700"/>
          </a:xfrm>
          <a:prstGeom prst="rect">
            <a:avLst/>
          </a:prstGeom>
          <a:solidFill>
            <a:srgbClr val="C9C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92640" y="475488"/>
            <a:ext cx="16733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73706A"/>
                </a:solidFill>
                <a:latin typeface="Helvetica Neue"/>
              </a:rPr>
              <a:t>TABULA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327648"/>
            <a:ext cx="4846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73706A"/>
                </a:solidFill>
                <a:latin typeface="Helvetica Neue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1200"/>
              </a:spcAft>
            </a:pPr>
            <a:r>
              <a:rPr sz="1400">
                <a:solidFill>
                  <a:srgbClr val="6E6A63"/>
                </a:solidFill>
                <a:latin typeface="Helvetica Neue"/>
              </a:rPr>
              <a:t>— </a:t>
            </a:r>
            <a:r>
              <a:rPr sz="1400" b="1">
                <a:solidFill>
                  <a:srgbClr val="191919"/>
                </a:solidFill>
                <a:latin typeface="Helvetica Neue"/>
              </a:rPr>
              <a:t>Compiler pipeline. </a:t>
            </a:r>
            <a:r>
              <a:rPr sz="1400">
                <a:solidFill>
                  <a:srgbClr val="191919"/>
                </a:solidFill>
                <a:latin typeface="Helvetica Neue"/>
              </a:rPr>
              <a:t>Aho et al. — the classical phase structure applies directly to formula languages.</a:t>
            </a:r>
          </a:p>
          <a:p>
            <a:pPr>
              <a:lnSpc>
                <a:spcPct val="122000"/>
              </a:lnSpc>
              <a:spcAft>
                <a:spcPts val="1200"/>
              </a:spcAft>
            </a:pPr>
            <a:r>
              <a:rPr sz="1400">
                <a:solidFill>
                  <a:srgbClr val="6E6A63"/>
                </a:solidFill>
                <a:latin typeface="Helvetica Neue"/>
              </a:rPr>
              <a:t>— </a:t>
            </a:r>
            <a:r>
              <a:rPr sz="1400" b="1">
                <a:solidFill>
                  <a:srgbClr val="191919"/>
                </a:solidFill>
                <a:latin typeface="Helvetica Neue"/>
              </a:rPr>
              <a:t>Pratt parsing (1973). </a:t>
            </a:r>
            <a:r>
              <a:rPr sz="1400">
                <a:solidFill>
                  <a:srgbClr val="191919"/>
                </a:solidFill>
                <a:latin typeface="Helvetica Neue"/>
              </a:rPr>
              <a:t>Top-down operator precedence: the standard technique for expression grammars with many tiers and mixed associativity.</a:t>
            </a:r>
          </a:p>
          <a:p>
            <a:pPr>
              <a:lnSpc>
                <a:spcPct val="122000"/>
              </a:lnSpc>
              <a:spcAft>
                <a:spcPts val="1200"/>
              </a:spcAft>
            </a:pPr>
            <a:r>
              <a:rPr sz="1400">
                <a:solidFill>
                  <a:srgbClr val="6E6A63"/>
                </a:solidFill>
                <a:latin typeface="Helvetica Neue"/>
              </a:rPr>
              <a:t>— </a:t>
            </a:r>
            <a:r>
              <a:rPr sz="1400" b="1">
                <a:solidFill>
                  <a:srgbClr val="191919"/>
                </a:solidFill>
                <a:latin typeface="Helvetica Neue"/>
              </a:rPr>
              <a:t>Spreadsheet internals. </a:t>
            </a:r>
            <a:r>
              <a:rPr sz="1400">
                <a:solidFill>
                  <a:srgbClr val="191919"/>
                </a:solidFill>
                <a:latin typeface="Helvetica Neue"/>
              </a:rPr>
              <a:t>Sestoft — formulas compiled per cell, a support graph between cells, minimal recalculation.</a:t>
            </a:r>
          </a:p>
          <a:p>
            <a:pPr>
              <a:lnSpc>
                <a:spcPct val="122000"/>
              </a:lnSpc>
              <a:spcAft>
                <a:spcPts val="1200"/>
              </a:spcAft>
            </a:pPr>
            <a:r>
              <a:rPr sz="1400">
                <a:solidFill>
                  <a:srgbClr val="6E6A63"/>
                </a:solidFill>
                <a:latin typeface="Helvetica Neue"/>
              </a:rPr>
              <a:t>— </a:t>
            </a:r>
            <a:r>
              <a:rPr sz="1400" b="1">
                <a:solidFill>
                  <a:srgbClr val="191919"/>
                </a:solidFill>
                <a:latin typeface="Helvetica Neue"/>
              </a:rPr>
              <a:t>Graph algorithms. </a:t>
            </a:r>
            <a:r>
              <a:rPr sz="1400">
                <a:solidFill>
                  <a:srgbClr val="191919"/>
                </a:solidFill>
                <a:latin typeface="Helvetica Neue"/>
              </a:rPr>
              <a:t>DFS three-colouring for cycles; Kahn (1962) for topological order.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0109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6E6A63"/>
                </a:solidFill>
                <a:latin typeface="Helvetica Neue"/>
              </a:rPr>
              <a:t>WHERE THIS PROJECT SITS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55080" y="2212848"/>
          <a:ext cx="5010912" cy="26334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3182112"/>
              </a:tblGrid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050" b="1">
                          <a:solidFill>
                            <a:srgbClr val="191919"/>
                          </a:solidFill>
                          <a:latin typeface="Helvetica Neue"/>
                        </a:rPr>
                        <a:t>System</a:t>
                      </a:r>
                    </a:p>
                  </a:txBody>
                  <a:tcPr marL="72000" marR="72000" marT="36000" marB="36000" anchor="ctr">
                    <a:solidFill>
                      <a:srgbClr val="E4E1D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050" b="1">
                          <a:solidFill>
                            <a:srgbClr val="191919"/>
                          </a:solidFill>
                          <a:latin typeface="Helvetica Neue"/>
                        </a:rPr>
                        <a:t>Gap it leaves</a:t>
                      </a:r>
                    </a:p>
                  </a:txBody>
                  <a:tcPr marL="72000" marR="72000" marT="36000" marB="36000" anchor="ctr">
                    <a:solidFill>
                      <a:srgbClr val="E4E1D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0">
                          <a:solidFill>
                            <a:srgbClr val="191919"/>
                          </a:solidFill>
                          <a:latin typeface="Helvetica Neue"/>
                        </a:rPr>
                        <a:t>Excel / Google Sheets</a:t>
                      </a:r>
                    </a:p>
                  </a:txBody>
                  <a:tcPr marL="72000" marR="72000" marT="36000" marB="36000" anchor="ctr">
                    <a:solidFill>
                      <a:srgbClr val="FAF9F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0">
                          <a:solidFill>
                            <a:srgbClr val="191919"/>
                          </a:solidFill>
                          <a:latin typeface="Helvetica Neue"/>
                        </a:rPr>
                        <a:t>Industrial-scale, but closed and invisible</a:t>
                      </a:r>
                    </a:p>
                  </a:txBody>
                  <a:tcPr marL="72000" marR="72000" marT="36000" marB="36000" anchor="ctr">
                    <a:solidFill>
                      <a:srgbClr val="FAF9F5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0">
                          <a:solidFill>
                            <a:srgbClr val="191919"/>
                          </a:solidFill>
                          <a:latin typeface="Helvetica Neue"/>
                        </a:rPr>
                        <a:t>Formula-parser libraries</a:t>
                      </a:r>
                    </a:p>
                  </a:txBody>
                  <a:tcPr marL="72000" marR="72000" marT="36000" marB="36000" anchor="ctr">
                    <a:solidFill>
                      <a:srgbClr val="FAF9F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0">
                          <a:solidFill>
                            <a:srgbClr val="191919"/>
                          </a:solidFill>
                          <a:latin typeface="Helvetica Neue"/>
                        </a:rPr>
                        <a:t>Parsing only — no analysis, IR or engine</a:t>
                      </a:r>
                    </a:p>
                  </a:txBody>
                  <a:tcPr marL="72000" marR="72000" marT="36000" marB="36000" anchor="ctr">
                    <a:solidFill>
                      <a:srgbClr val="FAF9F5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0">
                          <a:solidFill>
                            <a:srgbClr val="191919"/>
                          </a:solidFill>
                          <a:latin typeface="Helvetica Neue"/>
                        </a:rPr>
                        <a:t>Typical course projects</a:t>
                      </a:r>
                    </a:p>
                  </a:txBody>
                  <a:tcPr marL="72000" marR="72000" marT="36000" marB="36000" anchor="ctr">
                    <a:solidFill>
                      <a:srgbClr val="FAF9F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0">
                          <a:solidFill>
                            <a:srgbClr val="191919"/>
                          </a:solidFill>
                          <a:latin typeface="Helvetica Neue"/>
                        </a:rPr>
                        <a:t>One program; no dependency analysis</a:t>
                      </a:r>
                    </a:p>
                  </a:txBody>
                  <a:tcPr marL="72000" marR="72000" marT="36000" marB="36000" anchor="ctr">
                    <a:solidFill>
                      <a:srgbClr val="FAF9F5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0">
                          <a:solidFill>
                            <a:srgbClr val="191919"/>
                          </a:solidFill>
                          <a:latin typeface="Helvetica Neue"/>
                        </a:rPr>
                        <a:t>Tabula</a:t>
                      </a:r>
                    </a:p>
                  </a:txBody>
                  <a:tcPr marL="72000" marR="72000" marT="36000" marB="36000" anchor="ctr">
                    <a:solidFill>
                      <a:srgbClr val="FAF9F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0">
                          <a:solidFill>
                            <a:srgbClr val="191919"/>
                          </a:solidFill>
                          <a:latin typeface="Helvetica Neue"/>
                        </a:rPr>
                        <a:t>Full pipeline per formula plus whole-sheet analysis, all inspectable</a:t>
                      </a:r>
                    </a:p>
                  </a:txBody>
                  <a:tcPr marL="72000" marR="72000" marT="36000" marB="36000" anchor="ctr">
                    <a:solidFill>
                      <a:srgbClr val="FAF9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6E6A63"/>
                </a:solidFill>
                <a:latin typeface="Helvetica Neue"/>
              </a:rPr>
              <a:t>COURSE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0" i="0">
                <a:solidFill>
                  <a:srgbClr val="191919"/>
                </a:solidFill>
                <a:latin typeface="Georgia"/>
              </a:rPr>
              <a:t>Compiler Design Concepts Covered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89888"/>
            <a:ext cx="10543032" cy="12700"/>
          </a:xfrm>
          <a:prstGeom prst="rect">
            <a:avLst/>
          </a:prstGeom>
          <a:solidFill>
            <a:srgbClr val="C9C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92640" y="475488"/>
            <a:ext cx="16733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73706A"/>
                </a:solidFill>
                <a:latin typeface="Helvetica Neue"/>
              </a:rPr>
              <a:t>TABULA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327648"/>
            <a:ext cx="4846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73706A"/>
                </a:solidFill>
                <a:latin typeface="Helvetica Neue"/>
              </a:rPr>
              <a:t>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783080"/>
          <a:ext cx="10543032" cy="40507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51760"/>
                <a:gridCol w="7891272"/>
              </a:tblGrid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050" b="1">
                          <a:solidFill>
                            <a:srgbClr val="191919"/>
                          </a:solidFill>
                          <a:latin typeface="Helvetica Neue"/>
                        </a:rPr>
                        <a:t>Concept</a:t>
                      </a:r>
                    </a:p>
                  </a:txBody>
                  <a:tcPr marL="72000" marR="72000" marT="36000" marB="36000" anchor="ctr">
                    <a:solidFill>
                      <a:srgbClr val="E4E1D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050" b="1">
                          <a:solidFill>
                            <a:srgbClr val="191919"/>
                          </a:solidFill>
                          <a:latin typeface="Helvetica Neue"/>
                        </a:rPr>
                        <a:t>Where it appears in Tabula</a:t>
                      </a:r>
                    </a:p>
                  </a:txBody>
                  <a:tcPr marL="72000" marR="72000" marT="36000" marB="36000" anchor="ctr">
                    <a:solidFill>
                      <a:srgbClr val="E4E1D7"/>
                    </a:solidFill>
                  </a:tcPr>
                </a:tc>
              </a:tr>
              <a:tr h="370332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00" b="0">
                          <a:solidFill>
                            <a:srgbClr val="191919"/>
                          </a:solidFill>
                          <a:latin typeface="Helvetica Neue"/>
                        </a:rPr>
                        <a:t>Lexical analysis</a:t>
                      </a:r>
                    </a:p>
                  </a:txBody>
                  <a:tcPr marL="72000" marR="72000" marT="36000" marB="36000" anchor="ctr">
                    <a:solidFill>
                      <a:srgbClr val="FAF9F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00" b="0">
                          <a:solidFill>
                            <a:srgbClr val="191919"/>
                          </a:solidFill>
                          <a:latin typeface="Helvetica Neue"/>
                        </a:rPr>
                        <a:t>Hand-written scanner: references, ranges, literals, operators, maximal munch</a:t>
                      </a:r>
                    </a:p>
                  </a:txBody>
                  <a:tcPr marL="72000" marR="72000" marT="36000" marB="36000" anchor="ctr">
                    <a:solidFill>
                      <a:srgbClr val="FAF9F5"/>
                    </a:solidFill>
                  </a:tcPr>
                </a:tc>
              </a:tr>
              <a:tr h="370332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00" b="0">
                          <a:solidFill>
                            <a:srgbClr val="191919"/>
                          </a:solidFill>
                          <a:latin typeface="Helvetica Neue"/>
                        </a:rPr>
                        <a:t>Grammars and parsing</a:t>
                      </a:r>
                    </a:p>
                  </a:txBody>
                  <a:tcPr marL="72000" marR="72000" marT="36000" marB="36000" anchor="ctr">
                    <a:solidFill>
                      <a:srgbClr val="FAF9F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00" b="0">
                          <a:solidFill>
                            <a:srgbClr val="191919"/>
                          </a:solidFill>
                          <a:latin typeface="Helvetica Neue"/>
                        </a:rPr>
                        <a:t>EBNF with seven precedence tiers; recursive descent with Pratt climbing</a:t>
                      </a:r>
                    </a:p>
                  </a:txBody>
                  <a:tcPr marL="72000" marR="72000" marT="36000" marB="36000" anchor="ctr">
                    <a:solidFill>
                      <a:srgbClr val="FAF9F5"/>
                    </a:solidFill>
                  </a:tcPr>
                </a:tc>
              </a:tr>
              <a:tr h="370332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00" b="0">
                          <a:solidFill>
                            <a:srgbClr val="191919"/>
                          </a:solidFill>
                          <a:latin typeface="Helvetica Neue"/>
                        </a:rPr>
                        <a:t>Syntax trees</a:t>
                      </a:r>
                    </a:p>
                  </a:txBody>
                  <a:tcPr marL="72000" marR="72000" marT="36000" marB="36000" anchor="ctr">
                    <a:solidFill>
                      <a:srgbClr val="FAF9F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00" b="0">
                          <a:solidFill>
                            <a:srgbClr val="191919"/>
                          </a:solidFill>
                          <a:latin typeface="Helvetica Neue"/>
                        </a:rPr>
                        <a:t>Formula AST; visitor-based checking, optimization and code generation</a:t>
                      </a:r>
                    </a:p>
                  </a:txBody>
                  <a:tcPr marL="72000" marR="72000" marT="36000" marB="36000" anchor="ctr">
                    <a:solidFill>
                      <a:srgbClr val="FAF9F5"/>
                    </a:solidFill>
                  </a:tcPr>
                </a:tc>
              </a:tr>
              <a:tr h="370332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00" b="0">
                          <a:solidFill>
                            <a:srgbClr val="191919"/>
                          </a:solidFill>
                          <a:latin typeface="Helvetica Neue"/>
                        </a:rPr>
                        <a:t>Symbol tables</a:t>
                      </a:r>
                    </a:p>
                  </a:txBody>
                  <a:tcPr marL="72000" marR="72000" marT="36000" marB="36000" anchor="ctr">
                    <a:solidFill>
                      <a:srgbClr val="FAF9F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00" b="0">
                          <a:solidFill>
                            <a:srgbClr val="191919"/>
                          </a:solidFill>
                          <a:latin typeface="Helvetica Neue"/>
                        </a:rPr>
                        <a:t>Function registry (arity, parameter kinds, purity); named-range table</a:t>
                      </a:r>
                    </a:p>
                  </a:txBody>
                  <a:tcPr marL="72000" marR="72000" marT="36000" marB="36000" anchor="ctr">
                    <a:solidFill>
                      <a:srgbClr val="FAF9F5"/>
                    </a:solidFill>
                  </a:tcPr>
                </a:tc>
              </a:tr>
              <a:tr h="370332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00" b="0">
                          <a:solidFill>
                            <a:srgbClr val="191919"/>
                          </a:solidFill>
                          <a:latin typeface="Helvetica Neue"/>
                        </a:rPr>
                        <a:t>Semantic analysis</a:t>
                      </a:r>
                    </a:p>
                  </a:txBody>
                  <a:tcPr marL="72000" marR="72000" marT="36000" marB="36000" anchor="ctr">
                    <a:solidFill>
                      <a:srgbClr val="FAF9F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00" b="0">
                          <a:solidFill>
                            <a:srgbClr val="191919"/>
                          </a:solidFill>
                          <a:latin typeface="Helvetica Neue"/>
                        </a:rPr>
                        <a:t>Name resolution, arity and kind checks, bounds validation;
cycle detection as a whole-program semantic check</a:t>
                      </a:r>
                    </a:p>
                  </a:txBody>
                  <a:tcPr marL="72000" marR="72000" marT="36000" marB="36000" anchor="ctr">
                    <a:solidFill>
                      <a:srgbClr val="FAF9F5"/>
                    </a:solidFill>
                  </a:tcPr>
                </a:tc>
              </a:tr>
              <a:tr h="370332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00" b="0">
                          <a:solidFill>
                            <a:srgbClr val="191919"/>
                          </a:solidFill>
                          <a:latin typeface="Helvetica Neue"/>
                        </a:rPr>
                        <a:t>Dataflow analysis</a:t>
                      </a:r>
                    </a:p>
                  </a:txBody>
                  <a:tcPr marL="72000" marR="72000" marT="36000" marB="36000" anchor="ctr">
                    <a:solidFill>
                      <a:srgbClr val="FAF9F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00" b="0">
                          <a:solidFill>
                            <a:srgbClr val="191919"/>
                          </a:solidFill>
                          <a:latin typeface="Helvetica Neue"/>
                        </a:rPr>
                        <a:t>Precedent extraction, bidirectional dependency graph, dirty-set closure</a:t>
                      </a:r>
                    </a:p>
                  </a:txBody>
                  <a:tcPr marL="72000" marR="72000" marT="36000" marB="36000" anchor="ctr">
                    <a:solidFill>
                      <a:srgbClr val="FAF9F5"/>
                    </a:solidFill>
                  </a:tcPr>
                </a:tc>
              </a:tr>
              <a:tr h="370332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00" b="0">
                          <a:solidFill>
                            <a:srgbClr val="191919"/>
                          </a:solidFill>
                          <a:latin typeface="Helvetica Neue"/>
                        </a:rPr>
                        <a:t>Intermediate code</a:t>
                      </a:r>
                    </a:p>
                  </a:txBody>
                  <a:tcPr marL="72000" marR="72000" marT="36000" marB="36000" anchor="ctr">
                    <a:solidFill>
                      <a:srgbClr val="FAF9F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00" b="0">
                          <a:solidFill>
                            <a:srgbClr val="191919"/>
                          </a:solidFill>
                          <a:latin typeface="Helvetica Neue"/>
                        </a:rPr>
                        <a:t>Stack-machine bytecode with constant and reference pools</a:t>
                      </a:r>
                    </a:p>
                  </a:txBody>
                  <a:tcPr marL="72000" marR="72000" marT="36000" marB="36000" anchor="ctr">
                    <a:solidFill>
                      <a:srgbClr val="FAF9F5"/>
                    </a:solidFill>
                  </a:tcPr>
                </a:tc>
              </a:tr>
              <a:tr h="370332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00" b="0">
                          <a:solidFill>
                            <a:srgbClr val="191919"/>
                          </a:solidFill>
                          <a:latin typeface="Helvetica Neue"/>
                        </a:rPr>
                        <a:t>Optimization</a:t>
                      </a:r>
                    </a:p>
                  </a:txBody>
                  <a:tcPr marL="72000" marR="72000" marT="36000" marB="36000" anchor="ctr">
                    <a:solidFill>
                      <a:srgbClr val="FAF9F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00" b="0">
                          <a:solidFill>
                            <a:srgbClr val="191919"/>
                          </a:solidFill>
                          <a:latin typeface="Helvetica Neue"/>
                        </a:rPr>
                        <a:t>Constant folding, algebraic simplification, branch elimination, peephole</a:t>
                      </a:r>
                    </a:p>
                  </a:txBody>
                  <a:tcPr marL="72000" marR="72000" marT="36000" marB="36000" anchor="ctr">
                    <a:solidFill>
                      <a:srgbClr val="FAF9F5"/>
                    </a:solidFill>
                  </a:tcPr>
                </a:tc>
              </a:tr>
              <a:tr h="370332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00" b="0">
                          <a:solidFill>
                            <a:srgbClr val="191919"/>
                          </a:solidFill>
                          <a:latin typeface="Helvetica Neue"/>
                        </a:rPr>
                        <a:t>Code generation</a:t>
                      </a:r>
                    </a:p>
                  </a:txBody>
                  <a:tcPr marL="72000" marR="72000" marT="36000" marB="36000" anchor="ctr">
                    <a:solidFill>
                      <a:srgbClr val="FAF9F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00" b="0">
                          <a:solidFill>
                            <a:srgbClr val="191919"/>
                          </a:solidFill>
                          <a:latin typeface="Helvetica Neue"/>
                        </a:rPr>
                        <a:t>Post-order AST walk; short-circuit IF/AND/OR compiled to jumps</a:t>
                      </a:r>
                    </a:p>
                  </a:txBody>
                  <a:tcPr marL="72000" marR="72000" marT="36000" marB="36000" anchor="ctr">
                    <a:solidFill>
                      <a:srgbClr val="FAF9F5"/>
                    </a:solidFill>
                  </a:tcPr>
                </a:tc>
              </a:tr>
              <a:tr h="370332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00" b="0">
                          <a:solidFill>
                            <a:srgbClr val="191919"/>
                          </a:solidFill>
                          <a:latin typeface="Helvetica Neue"/>
                        </a:rPr>
                        <a:t>Interpretation</a:t>
                      </a:r>
                    </a:p>
                  </a:txBody>
                  <a:tcPr marL="72000" marR="72000" marT="36000" marB="36000" anchor="ctr">
                    <a:solidFill>
                      <a:srgbClr val="FAF9F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00" b="0">
                          <a:solidFill>
                            <a:srgbClr val="191919"/>
                          </a:solidFill>
                          <a:latin typeface="Helvetica Neue"/>
                        </a:rPr>
                        <a:t>Stack VM over the grid as its store; error-value runtime semantics</a:t>
                      </a:r>
                    </a:p>
                  </a:txBody>
                  <a:tcPr marL="72000" marR="72000" marT="36000" marB="36000" anchor="ctr">
                    <a:solidFill>
                      <a:srgbClr val="FAF9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6E6A63"/>
                </a:solidFill>
                <a:latin typeface="Helvetica Neue"/>
              </a:rPr>
              <a:t>TWO COOPERATING LAYERS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0" i="0">
                <a:solidFill>
                  <a:srgbClr val="191919"/>
                </a:solidFill>
                <a:latin typeface="Georgia"/>
              </a:rPr>
              <a:t>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89888"/>
            <a:ext cx="10543032" cy="12700"/>
          </a:xfrm>
          <a:prstGeom prst="rect">
            <a:avLst/>
          </a:prstGeom>
          <a:solidFill>
            <a:srgbClr val="C9C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92640" y="475488"/>
            <a:ext cx="16733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73706A"/>
                </a:solidFill>
                <a:latin typeface="Helvetica Neue"/>
              </a:rPr>
              <a:t>TABULA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327648"/>
            <a:ext cx="4846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73706A"/>
                </a:solidFill>
                <a:latin typeface="Helvetica Neue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00784"/>
            <a:ext cx="10543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6E6A63"/>
                </a:solidFill>
                <a:latin typeface="Helvetica Neue"/>
              </a:rPr>
              <a:t>MICRO LAYER — FORMULA COMPILER, RUNS ON EVERY CELL EDIT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029968"/>
            <a:ext cx="1991563" cy="914400"/>
          </a:xfrm>
          <a:prstGeom prst="roundRect">
            <a:avLst>
              <a:gd name="adj" fmla="val 12000"/>
            </a:avLst>
          </a:prstGeom>
          <a:solidFill>
            <a:srgbClr val="FAF9F5"/>
          </a:solidFill>
          <a:ln w="9525">
            <a:solidFill>
              <a:srgbClr val="C9C5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45000" bIns="45000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191919"/>
                </a:solidFill>
                <a:latin typeface="Helvetica Neue"/>
              </a:rPr>
              <a:t>Lexer</a:t>
            </a:r>
          </a:p>
          <a:p>
            <a:pPr algn="ctr">
              <a:lnSpc>
                <a:spcPct val="105000"/>
              </a:lnSpc>
              <a:spcBef>
                <a:spcPts val="300"/>
              </a:spcBef>
            </a:pPr>
            <a:r>
              <a:rPr sz="850">
                <a:solidFill>
                  <a:srgbClr val="73706A"/>
                </a:solidFill>
                <a:latin typeface="Helvetica Neue"/>
              </a:rPr>
              <a:t>tokens with
positions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14523" y="2368296"/>
            <a:ext cx="1463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6E6A63"/>
                </a:solidFill>
                <a:latin typeface="Helvetica Neue"/>
              </a:rP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60827" y="2029968"/>
            <a:ext cx="1991563" cy="914400"/>
          </a:xfrm>
          <a:prstGeom prst="roundRect">
            <a:avLst>
              <a:gd name="adj" fmla="val 12000"/>
            </a:avLst>
          </a:prstGeom>
          <a:solidFill>
            <a:srgbClr val="FAF9F5"/>
          </a:solidFill>
          <a:ln w="9525">
            <a:solidFill>
              <a:srgbClr val="C9C5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45000" bIns="45000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191919"/>
                </a:solidFill>
                <a:latin typeface="Helvetica Neue"/>
              </a:rPr>
              <a:t>Parser</a:t>
            </a:r>
          </a:p>
          <a:p>
            <a:pPr algn="ctr">
              <a:lnSpc>
                <a:spcPct val="105000"/>
              </a:lnSpc>
              <a:spcBef>
                <a:spcPts val="300"/>
              </a:spcBef>
            </a:pPr>
            <a:r>
              <a:rPr sz="850">
                <a:solidFill>
                  <a:srgbClr val="73706A"/>
                </a:solidFill>
                <a:latin typeface="Helvetica Neue"/>
              </a:rPr>
              <a:t>Pratt · AST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2390" y="2368296"/>
            <a:ext cx="1463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6E6A63"/>
                </a:solidFill>
                <a:latin typeface="Helvetica Neue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98694" y="2029968"/>
            <a:ext cx="1991563" cy="914400"/>
          </a:xfrm>
          <a:prstGeom prst="roundRect">
            <a:avLst>
              <a:gd name="adj" fmla="val 12000"/>
            </a:avLst>
          </a:prstGeom>
          <a:solidFill>
            <a:srgbClr val="FAF9F5"/>
          </a:solidFill>
          <a:ln w="9525">
            <a:solidFill>
              <a:srgbClr val="C9C5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45000" bIns="45000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191919"/>
                </a:solidFill>
                <a:latin typeface="Helvetica Neue"/>
              </a:rPr>
              <a:t>Semantic Analyzer</a:t>
            </a:r>
          </a:p>
          <a:p>
            <a:pPr algn="ctr">
              <a:lnSpc>
                <a:spcPct val="105000"/>
              </a:lnSpc>
              <a:spcBef>
                <a:spcPts val="300"/>
              </a:spcBef>
            </a:pPr>
            <a:r>
              <a:rPr sz="850">
                <a:solidFill>
                  <a:srgbClr val="73706A"/>
                </a:solidFill>
                <a:latin typeface="Helvetica Neue"/>
              </a:rPr>
              <a:t>symbol tables ·
precedent 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90257" y="2368296"/>
            <a:ext cx="1463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6E6A63"/>
                </a:solidFill>
                <a:latin typeface="Helvetica Neue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36561" y="2029968"/>
            <a:ext cx="1991563" cy="914400"/>
          </a:xfrm>
          <a:prstGeom prst="roundRect">
            <a:avLst>
              <a:gd name="adj" fmla="val 12000"/>
            </a:avLst>
          </a:prstGeom>
          <a:solidFill>
            <a:srgbClr val="FAF9F5"/>
          </a:solidFill>
          <a:ln w="9525">
            <a:solidFill>
              <a:srgbClr val="C9C5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45000" bIns="45000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191919"/>
                </a:solidFill>
                <a:latin typeface="Helvetica Neue"/>
              </a:rPr>
              <a:t>Optimizer</a:t>
            </a:r>
          </a:p>
          <a:p>
            <a:pPr algn="ctr">
              <a:lnSpc>
                <a:spcPct val="105000"/>
              </a:lnSpc>
              <a:spcBef>
                <a:spcPts val="300"/>
              </a:spcBef>
            </a:pPr>
            <a:r>
              <a:rPr sz="850">
                <a:solidFill>
                  <a:srgbClr val="73706A"/>
                </a:solidFill>
                <a:latin typeface="Helvetica Neue"/>
              </a:rPr>
              <a:t>fold · simplify ·
branch-eliminate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28124" y="2368296"/>
            <a:ext cx="1463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6E6A63"/>
                </a:solidFill>
                <a:latin typeface="Helvetica Neue"/>
              </a:rP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4428" y="2029968"/>
            <a:ext cx="1991563" cy="914400"/>
          </a:xfrm>
          <a:prstGeom prst="roundRect">
            <a:avLst>
              <a:gd name="adj" fmla="val 12000"/>
            </a:avLst>
          </a:prstGeom>
          <a:solidFill>
            <a:srgbClr val="FAF9F5"/>
          </a:solidFill>
          <a:ln w="9525">
            <a:solidFill>
              <a:srgbClr val="C9C5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45000" bIns="45000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191919"/>
                </a:solidFill>
                <a:latin typeface="Helvetica Neue"/>
              </a:rPr>
              <a:t>Bytecode Gen</a:t>
            </a:r>
          </a:p>
          <a:p>
            <a:pPr algn="ctr">
              <a:lnSpc>
                <a:spcPct val="105000"/>
              </a:lnSpc>
              <a:spcBef>
                <a:spcPts val="300"/>
              </a:spcBef>
            </a:pPr>
            <a:r>
              <a:rPr sz="850">
                <a:solidFill>
                  <a:srgbClr val="73706A"/>
                </a:solidFill>
                <a:latin typeface="Helvetica Neue"/>
              </a:rPr>
              <a:t>+ peephole
→ chunk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310128"/>
            <a:ext cx="10543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6E6A63"/>
                </a:solidFill>
                <a:latin typeface="Helvetica Neue"/>
              </a:rPr>
              <a:t>MACRO LAYER — SHEET ENGINE, ORCHESTRATES RECOMPUTATION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639312"/>
            <a:ext cx="1635252" cy="914400"/>
          </a:xfrm>
          <a:prstGeom prst="roundRect">
            <a:avLst>
              <a:gd name="adj" fmla="val 12000"/>
            </a:avLst>
          </a:prstGeom>
          <a:solidFill>
            <a:srgbClr val="FAF9F5"/>
          </a:solidFill>
          <a:ln w="9525">
            <a:solidFill>
              <a:srgbClr val="C9C5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45000" bIns="45000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191919"/>
                </a:solidFill>
                <a:latin typeface="Helvetica Neue"/>
              </a:rPr>
              <a:t>Edit Controller</a:t>
            </a:r>
          </a:p>
          <a:p>
            <a:pPr algn="ctr">
              <a:lnSpc>
                <a:spcPct val="105000"/>
              </a:lnSpc>
              <a:spcBef>
                <a:spcPts val="300"/>
              </a:spcBef>
            </a:pPr>
            <a:r>
              <a:rPr sz="850">
                <a:solidFill>
                  <a:srgbClr val="73706A"/>
                </a:solidFill>
                <a:latin typeface="Helvetica Neue"/>
              </a:rPr>
              <a:t>set · get · load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58212" y="3977640"/>
            <a:ext cx="1463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6E6A63"/>
                </a:solidFill>
                <a:latin typeface="Helvetica Neue"/>
              </a:rP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604516" y="3639312"/>
            <a:ext cx="1635252" cy="914400"/>
          </a:xfrm>
          <a:prstGeom prst="roundRect">
            <a:avLst>
              <a:gd name="adj" fmla="val 12000"/>
            </a:avLst>
          </a:prstGeom>
          <a:solidFill>
            <a:srgbClr val="FAF9F5"/>
          </a:solidFill>
          <a:ln w="9525">
            <a:solidFill>
              <a:srgbClr val="C9C5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45000" bIns="45000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191919"/>
                </a:solidFill>
                <a:latin typeface="Helvetica Neue"/>
              </a:rPr>
              <a:t>Dependency Graph</a:t>
            </a:r>
          </a:p>
          <a:p>
            <a:pPr algn="ctr">
              <a:lnSpc>
                <a:spcPct val="105000"/>
              </a:lnSpc>
              <a:spcBef>
                <a:spcPts val="300"/>
              </a:spcBef>
            </a:pPr>
            <a:r>
              <a:rPr sz="850">
                <a:solidFill>
                  <a:srgbClr val="73706A"/>
                </a:solidFill>
                <a:latin typeface="Helvetica Neue"/>
              </a:rPr>
              <a:t>precedents ⇄
dependents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39768" y="3977640"/>
            <a:ext cx="1463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6E6A63"/>
                </a:solidFill>
                <a:latin typeface="Helvetica Neue"/>
              </a:rPr>
              <a:t>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6072" y="3639312"/>
            <a:ext cx="1635252" cy="914400"/>
          </a:xfrm>
          <a:prstGeom prst="roundRect">
            <a:avLst>
              <a:gd name="adj" fmla="val 12000"/>
            </a:avLst>
          </a:prstGeom>
          <a:solidFill>
            <a:srgbClr val="FAF9F5"/>
          </a:solidFill>
          <a:ln w="9525">
            <a:solidFill>
              <a:srgbClr val="C9C5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45000" bIns="45000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191919"/>
                </a:solidFill>
                <a:latin typeface="Helvetica Neue"/>
              </a:rPr>
              <a:t>Cycle Detector</a:t>
            </a:r>
          </a:p>
          <a:p>
            <a:pPr algn="ctr">
              <a:lnSpc>
                <a:spcPct val="105000"/>
              </a:lnSpc>
              <a:spcBef>
                <a:spcPts val="300"/>
              </a:spcBef>
            </a:pPr>
            <a:r>
              <a:rPr sz="850">
                <a:solidFill>
                  <a:srgbClr val="73706A"/>
                </a:solidFill>
                <a:latin typeface="Helvetica Neue"/>
              </a:rPr>
              <a:t>DFS colouring
· #CYCLE!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21324" y="3977640"/>
            <a:ext cx="1463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6E6A63"/>
                </a:solidFill>
                <a:latin typeface="Helvetica Neue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67628" y="3639312"/>
            <a:ext cx="1635252" cy="914400"/>
          </a:xfrm>
          <a:prstGeom prst="roundRect">
            <a:avLst>
              <a:gd name="adj" fmla="val 12000"/>
            </a:avLst>
          </a:prstGeom>
          <a:solidFill>
            <a:srgbClr val="FAF9F5"/>
          </a:solidFill>
          <a:ln w="9525">
            <a:solidFill>
              <a:srgbClr val="C9C5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45000" bIns="45000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191919"/>
                </a:solidFill>
                <a:latin typeface="Helvetica Neue"/>
              </a:rPr>
              <a:t>Scheduler</a:t>
            </a:r>
          </a:p>
          <a:p>
            <a:pPr algn="ctr">
              <a:lnSpc>
                <a:spcPct val="105000"/>
              </a:lnSpc>
              <a:spcBef>
                <a:spcPts val="300"/>
              </a:spcBef>
            </a:pPr>
            <a:r>
              <a:rPr sz="850">
                <a:solidFill>
                  <a:srgbClr val="73706A"/>
                </a:solidFill>
                <a:latin typeface="Helvetica Neue"/>
              </a:rPr>
              <a:t>dirty closure ·
Kahn order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02880" y="3977640"/>
            <a:ext cx="1463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6E6A63"/>
                </a:solidFill>
                <a:latin typeface="Helvetica Neue"/>
              </a:rPr>
              <a:t>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49184" y="3639312"/>
            <a:ext cx="1635252" cy="914400"/>
          </a:xfrm>
          <a:prstGeom prst="roundRect">
            <a:avLst>
              <a:gd name="adj" fmla="val 12000"/>
            </a:avLst>
          </a:prstGeom>
          <a:solidFill>
            <a:srgbClr val="FAF9F5"/>
          </a:solidFill>
          <a:ln w="9525">
            <a:solidFill>
              <a:srgbClr val="C9C5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45000" bIns="45000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191919"/>
                </a:solidFill>
                <a:latin typeface="Helvetica Neue"/>
              </a:rPr>
              <a:t>Evaluation VM</a:t>
            </a:r>
          </a:p>
          <a:p>
            <a:pPr algn="ctr">
              <a:lnSpc>
                <a:spcPct val="105000"/>
              </a:lnSpc>
              <a:spcBef>
                <a:spcPts val="300"/>
              </a:spcBef>
            </a:pPr>
            <a:r>
              <a:rPr sz="850">
                <a:solidFill>
                  <a:srgbClr val="73706A"/>
                </a:solidFill>
                <a:latin typeface="Helvetica Neue"/>
              </a:rPr>
              <a:t>stack machine ·
error values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84436" y="3977640"/>
            <a:ext cx="1463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6E6A63"/>
                </a:solidFill>
                <a:latin typeface="Helvetica Neue"/>
              </a:rPr>
              <a:t>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730740" y="3639312"/>
            <a:ext cx="1635252" cy="914400"/>
          </a:xfrm>
          <a:prstGeom prst="roundRect">
            <a:avLst>
              <a:gd name="adj" fmla="val 12000"/>
            </a:avLst>
          </a:prstGeom>
          <a:solidFill>
            <a:srgbClr val="FAF9F5"/>
          </a:solidFill>
          <a:ln w="9525">
            <a:solidFill>
              <a:srgbClr val="C9C5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45000" bIns="45000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191919"/>
                </a:solidFill>
                <a:latin typeface="Helvetica Neue"/>
              </a:rPr>
              <a:t>Grid</a:t>
            </a:r>
          </a:p>
          <a:p>
            <a:pPr algn="ctr">
              <a:lnSpc>
                <a:spcPct val="105000"/>
              </a:lnSpc>
              <a:spcBef>
                <a:spcPts val="300"/>
              </a:spcBef>
            </a:pPr>
            <a:r>
              <a:rPr sz="850">
                <a:solidFill>
                  <a:srgbClr val="73706A"/>
                </a:solidFill>
                <a:latin typeface="Helvetica Neue"/>
              </a:rPr>
              <a:t>sparse cells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4956048"/>
            <a:ext cx="10543032" cy="1078992"/>
          </a:xfrm>
          <a:prstGeom prst="roundRect">
            <a:avLst>
              <a:gd name="adj" fmla="val 4000"/>
            </a:avLst>
          </a:prstGeom>
          <a:solidFill>
            <a:srgbClr val="FAF9F5"/>
          </a:solidFill>
          <a:ln w="9525">
            <a:solidFill>
              <a:srgbClr val="C9C5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88720" y="5138928"/>
            <a:ext cx="9784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0">
                <a:solidFill>
                  <a:srgbClr val="191919"/>
                </a:solidFill>
                <a:latin typeface="Helvetica Neue"/>
              </a:rPr>
              <a:t>Dependency rule — each micro-layer stage depends only on earlier stages; the engine consumes the compiler as a black box (compile_formula → chunk + precedents); the visualizer depends on everything and nothing depends on 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6E6A63"/>
                </a:solidFill>
                <a:latin typeface="Helvetica Neue"/>
              </a:rPr>
              <a:t>WORKED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0" i="0">
                <a:solidFill>
                  <a:srgbClr val="191919"/>
                </a:solidFill>
                <a:latin typeface="Georgia"/>
              </a:rPr>
              <a:t>Micro Layer — One Formula, Five Stages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89888"/>
            <a:ext cx="10543032" cy="12700"/>
          </a:xfrm>
          <a:prstGeom prst="rect">
            <a:avLst/>
          </a:prstGeom>
          <a:solidFill>
            <a:srgbClr val="C9C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92640" y="475488"/>
            <a:ext cx="16733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73706A"/>
                </a:solidFill>
                <a:latin typeface="Helvetica Neue"/>
              </a:rPr>
              <a:t>TABULA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327648"/>
            <a:ext cx="4846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73706A"/>
                </a:solidFill>
                <a:latin typeface="Helvetica Neue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783080"/>
            <a:ext cx="5120640" cy="4114800"/>
          </a:xfrm>
          <a:prstGeom prst="roundRect">
            <a:avLst>
              <a:gd name="adj" fmla="val 3000"/>
            </a:avLst>
          </a:prstGeom>
          <a:solidFill>
            <a:srgbClr val="FAF9F5"/>
          </a:solidFill>
          <a:ln w="9525">
            <a:solidFill>
              <a:srgbClr val="C9C5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6000" rIns="126000" tIns="100000" bIns="100000"/>
          <a:lstStyle/>
          <a:p>
            <a:pPr algn="ctr">
              <a:lnSpc>
                <a:spcPct val="116000"/>
              </a:lnSpc>
            </a:pPr>
            <a:r>
              <a:rPr sz="1300" b="1">
                <a:solidFill>
                  <a:srgbClr val="191919"/>
                </a:solidFill>
                <a:latin typeface="Menlo"/>
              </a:rPr>
              <a:t>=SUM(A1:A3)*2</a:t>
            </a:r>
          </a:p>
          <a:p>
            <a:pPr>
              <a:lnSpc>
                <a:spcPct val="116000"/>
              </a:lnSpc>
            </a:pPr>
            <a:r>
              <a:rPr sz="950" b="0">
                <a:solidFill>
                  <a:srgbClr val="191919"/>
                </a:solidFill>
                <a:latin typeface="Menlo"/>
              </a:rPr>
              <a:t/>
            </a:r>
          </a:p>
          <a:p>
            <a:pPr>
              <a:lnSpc>
                <a:spcPct val="116000"/>
              </a:lnSpc>
            </a:pPr>
            <a:r>
              <a:rPr sz="950" b="0">
                <a:solidFill>
                  <a:srgbClr val="73706A"/>
                </a:solidFill>
                <a:latin typeface="Menlo"/>
              </a:rPr>
              <a:t>tokens   SUM ( A1 : A3 ) * 2</a:t>
            </a:r>
          </a:p>
          <a:p>
            <a:pPr>
              <a:lnSpc>
                <a:spcPct val="116000"/>
              </a:lnSpc>
            </a:pPr>
            <a:r>
              <a:rPr sz="950" b="0">
                <a:solidFill>
                  <a:srgbClr val="191919"/>
                </a:solidFill>
                <a:latin typeface="Menlo"/>
              </a:rPr>
              <a:t/>
            </a:r>
          </a:p>
          <a:p>
            <a:pPr>
              <a:lnSpc>
                <a:spcPct val="116000"/>
              </a:lnSpc>
            </a:pPr>
            <a:r>
              <a:rPr sz="950" b="0">
                <a:solidFill>
                  <a:srgbClr val="73706A"/>
                </a:solidFill>
                <a:latin typeface="Menlo"/>
              </a:rPr>
              <a:t>ast      Binary(*)</a:t>
            </a:r>
          </a:p>
          <a:p>
            <a:pPr>
              <a:lnSpc>
                <a:spcPct val="116000"/>
              </a:lnSpc>
            </a:pPr>
            <a:r>
              <a:rPr sz="950" b="0">
                <a:solidFill>
                  <a:srgbClr val="73706A"/>
                </a:solidFill>
                <a:latin typeface="Menlo"/>
              </a:rPr>
              <a:t>         ├── Call(SUM)</a:t>
            </a:r>
          </a:p>
          <a:p>
            <a:pPr>
              <a:lnSpc>
                <a:spcPct val="116000"/>
              </a:lnSpc>
            </a:pPr>
            <a:r>
              <a:rPr sz="950" b="0">
                <a:solidFill>
                  <a:srgbClr val="73706A"/>
                </a:solidFill>
                <a:latin typeface="Menlo"/>
              </a:rPr>
              <a:t>         │   └── Range(A1:A3)</a:t>
            </a:r>
          </a:p>
          <a:p>
            <a:pPr>
              <a:lnSpc>
                <a:spcPct val="116000"/>
              </a:lnSpc>
            </a:pPr>
            <a:r>
              <a:rPr sz="950" b="0">
                <a:solidFill>
                  <a:srgbClr val="73706A"/>
                </a:solidFill>
                <a:latin typeface="Menlo"/>
              </a:rPr>
              <a:t>         └── Number(2)</a:t>
            </a:r>
          </a:p>
          <a:p>
            <a:pPr>
              <a:lnSpc>
                <a:spcPct val="116000"/>
              </a:lnSpc>
            </a:pPr>
            <a:r>
              <a:rPr sz="950" b="0">
                <a:solidFill>
                  <a:srgbClr val="191919"/>
                </a:solidFill>
                <a:latin typeface="Menlo"/>
              </a:rPr>
              <a:t/>
            </a:r>
          </a:p>
          <a:p>
            <a:pPr>
              <a:lnSpc>
                <a:spcPct val="116000"/>
              </a:lnSpc>
            </a:pPr>
            <a:r>
              <a:rPr sz="950" b="0">
                <a:solidFill>
                  <a:srgbClr val="73706A"/>
                </a:solidFill>
                <a:latin typeface="Menlo"/>
              </a:rPr>
              <a:t>checked  SUM arity ✓  range kind ✓</a:t>
            </a:r>
          </a:p>
          <a:p>
            <a:pPr>
              <a:lnSpc>
                <a:spcPct val="116000"/>
              </a:lnSpc>
            </a:pPr>
            <a:r>
              <a:rPr sz="950" b="1">
                <a:solidFill>
                  <a:srgbClr val="191919"/>
                </a:solidFill>
                <a:latin typeface="Menlo"/>
              </a:rPr>
              <a:t>         precedents = {A1, A2, A3}</a:t>
            </a:r>
          </a:p>
          <a:p>
            <a:pPr>
              <a:lnSpc>
                <a:spcPct val="116000"/>
              </a:lnSpc>
            </a:pPr>
            <a:r>
              <a:rPr sz="950" b="0">
                <a:solidFill>
                  <a:srgbClr val="191919"/>
                </a:solidFill>
                <a:latin typeface="Menlo"/>
              </a:rPr>
              <a:t/>
            </a:r>
          </a:p>
          <a:p>
            <a:pPr>
              <a:lnSpc>
                <a:spcPct val="116000"/>
              </a:lnSpc>
            </a:pPr>
            <a:r>
              <a:rPr sz="950" b="0">
                <a:solidFill>
                  <a:srgbClr val="73706A"/>
                </a:solidFill>
                <a:latin typeface="Menlo"/>
              </a:rPr>
              <a:t>bytecode LOAD_RANGE 0</a:t>
            </a:r>
          </a:p>
          <a:p>
            <a:pPr>
              <a:lnSpc>
                <a:spcPct val="116000"/>
              </a:lnSpc>
            </a:pPr>
            <a:r>
              <a:rPr sz="950" b="0">
                <a:solidFill>
                  <a:srgbClr val="73706A"/>
                </a:solidFill>
                <a:latin typeface="Menlo"/>
              </a:rPr>
              <a:t>         CALL SUM 1</a:t>
            </a:r>
          </a:p>
          <a:p>
            <a:pPr>
              <a:lnSpc>
                <a:spcPct val="116000"/>
              </a:lnSpc>
            </a:pPr>
            <a:r>
              <a:rPr sz="950" b="0">
                <a:solidFill>
                  <a:srgbClr val="73706A"/>
                </a:solidFill>
                <a:latin typeface="Menlo"/>
              </a:rPr>
              <a:t>         CONST 2</a:t>
            </a:r>
          </a:p>
          <a:p>
            <a:pPr>
              <a:lnSpc>
                <a:spcPct val="116000"/>
              </a:lnSpc>
            </a:pPr>
            <a:r>
              <a:rPr sz="950" b="0">
                <a:solidFill>
                  <a:srgbClr val="73706A"/>
                </a:solidFill>
                <a:latin typeface="Menlo"/>
              </a:rPr>
              <a:t>         MUL</a:t>
            </a:r>
          </a:p>
          <a:p>
            <a:pPr>
              <a:lnSpc>
                <a:spcPct val="116000"/>
              </a:lnSpc>
            </a:pPr>
            <a:r>
              <a:rPr sz="950" b="0">
                <a:solidFill>
                  <a:srgbClr val="73706A"/>
                </a:solidFill>
                <a:latin typeface="Menlo"/>
              </a:rPr>
              <a:t>         RET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874519"/>
            <a:ext cx="50109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1100"/>
              </a:spcAft>
            </a:pPr>
            <a:r>
              <a:rPr sz="1350">
                <a:solidFill>
                  <a:srgbClr val="6E6A63"/>
                </a:solidFill>
                <a:latin typeface="Helvetica Neue"/>
              </a:rPr>
              <a:t>— </a:t>
            </a:r>
            <a:r>
              <a:rPr sz="1350" b="1">
                <a:solidFill>
                  <a:srgbClr val="191919"/>
                </a:solidFill>
                <a:latin typeface="Helvetica Neue"/>
              </a:rPr>
              <a:t>Positioned diagnostics. </a:t>
            </a:r>
            <a:r>
              <a:rPr sz="1350">
                <a:solidFill>
                  <a:srgbClr val="191919"/>
                </a:solidFill>
                <a:latin typeface="Helvetica Neue"/>
              </a:rPr>
              <a:t>Every token carries its column, so errors point at the exact character.</a:t>
            </a:r>
          </a:p>
          <a:p>
            <a:pPr>
              <a:lnSpc>
                <a:spcPct val="122000"/>
              </a:lnSpc>
              <a:spcAft>
                <a:spcPts val="1100"/>
              </a:spcAft>
            </a:pPr>
            <a:r>
              <a:rPr sz="1350">
                <a:solidFill>
                  <a:srgbClr val="6E6A63"/>
                </a:solidFill>
                <a:latin typeface="Helvetica Neue"/>
              </a:rPr>
              <a:t>— </a:t>
            </a:r>
            <a:r>
              <a:rPr sz="1350" b="1">
                <a:solidFill>
                  <a:srgbClr val="191919"/>
                </a:solidFill>
                <a:latin typeface="Helvetica Neue"/>
              </a:rPr>
              <a:t>Pratt precedence. </a:t>
            </a:r>
            <a:r>
              <a:rPr sz="1350">
                <a:solidFill>
                  <a:srgbClr val="191919"/>
                </a:solidFill>
                <a:latin typeface="Helvetica Neue"/>
              </a:rPr>
              <a:t>Seven tiers; ^ is right-associative, so =2^3^2 is 512.</a:t>
            </a:r>
          </a:p>
          <a:p>
            <a:pPr>
              <a:lnSpc>
                <a:spcPct val="122000"/>
              </a:lnSpc>
              <a:spcAft>
                <a:spcPts val="1100"/>
              </a:spcAft>
            </a:pPr>
            <a:r>
              <a:rPr sz="1350">
                <a:solidFill>
                  <a:srgbClr val="6E6A63"/>
                </a:solidFill>
                <a:latin typeface="Helvetica Neue"/>
              </a:rPr>
              <a:t>— </a:t>
            </a:r>
            <a:r>
              <a:rPr sz="1350" b="1">
                <a:solidFill>
                  <a:srgbClr val="191919"/>
                </a:solidFill>
                <a:latin typeface="Helvetica Neue"/>
              </a:rPr>
              <a:t>Precedents are a compiler output. </a:t>
            </a:r>
            <a:r>
              <a:rPr sz="1350">
                <a:solidFill>
                  <a:srgbClr val="191919"/>
                </a:solidFill>
                <a:latin typeface="Helvetica Neue"/>
              </a:rPr>
              <a:t>The semantic pass extracts them — this is the interface to the sheet engine.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4343400"/>
            <a:ext cx="5010912" cy="1554480"/>
          </a:xfrm>
          <a:prstGeom prst="roundRect">
            <a:avLst>
              <a:gd name="adj" fmla="val 4000"/>
            </a:avLst>
          </a:prstGeom>
          <a:solidFill>
            <a:srgbClr val="3D3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4553712"/>
            <a:ext cx="43891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 i="0">
                <a:solidFill>
                  <a:srgbClr val="F0EEE6"/>
                </a:solidFill>
                <a:latin typeface="Helvetica Neue"/>
              </a:rPr>
              <a:t>Optimization runs before precedents are finalised, so =IF(FALSE, B1, 7) folds to 7 and ends with no dependency on B1 — the optimizer changes the dependency graph, not just execution speed.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6E6A63"/>
                </a:solidFill>
                <a:latin typeface="Helvetica Neue"/>
              </a:rPr>
              <a:t>THE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0" i="0">
                <a:solidFill>
                  <a:srgbClr val="191919"/>
                </a:solidFill>
                <a:latin typeface="Georgia"/>
              </a:rPr>
              <a:t>Macro Layer — Dependency-Driven Recomputation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89888"/>
            <a:ext cx="10543032" cy="12700"/>
          </a:xfrm>
          <a:prstGeom prst="rect">
            <a:avLst/>
          </a:prstGeom>
          <a:solidFill>
            <a:srgbClr val="C9C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92640" y="475488"/>
            <a:ext cx="16733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73706A"/>
                </a:solidFill>
                <a:latin typeface="Helvetica Neue"/>
              </a:rPr>
              <a:t>TABULA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327648"/>
            <a:ext cx="4846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73706A"/>
                </a:solidFill>
                <a:latin typeface="Helvetica Neue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74519"/>
            <a:ext cx="347472" cy="347472"/>
          </a:xfrm>
          <a:prstGeom prst="roundRect">
            <a:avLst>
              <a:gd name="adj" fmla="val 22000"/>
            </a:avLst>
          </a:prstGeom>
          <a:solidFill>
            <a:srgbClr val="E4E1D7"/>
          </a:solidFill>
          <a:ln w="9525">
            <a:solidFill>
              <a:srgbClr val="C9C5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47671"/>
            <a:ext cx="3474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6E6A63"/>
                </a:solidFill>
                <a:latin typeface="Helvetica Neue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920239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 i="0">
                <a:solidFill>
                  <a:srgbClr val="191919"/>
                </a:solidFill>
                <a:latin typeface="Helvetica Neue"/>
              </a:rPr>
              <a:t>Compile the edited formula → chunk + precedents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441447"/>
            <a:ext cx="347472" cy="347472"/>
          </a:xfrm>
          <a:prstGeom prst="roundRect">
            <a:avLst>
              <a:gd name="adj" fmla="val 22000"/>
            </a:avLst>
          </a:prstGeom>
          <a:solidFill>
            <a:srgbClr val="E4E1D7"/>
          </a:solidFill>
          <a:ln w="9525">
            <a:solidFill>
              <a:srgbClr val="C9C5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514599"/>
            <a:ext cx="3474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6E6A63"/>
                </a:solidFill>
                <a:latin typeface="Helvetica Neue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487167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 i="0">
                <a:solidFill>
                  <a:srgbClr val="191919"/>
                </a:solidFill>
                <a:latin typeface="Helvetica Neue"/>
              </a:rPr>
              <a:t>Update graph edges by diffing old and new precedents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008375"/>
            <a:ext cx="347472" cy="347472"/>
          </a:xfrm>
          <a:prstGeom prst="roundRect">
            <a:avLst>
              <a:gd name="adj" fmla="val 22000"/>
            </a:avLst>
          </a:prstGeom>
          <a:solidFill>
            <a:srgbClr val="E4E1D7"/>
          </a:solidFill>
          <a:ln w="9525">
            <a:solidFill>
              <a:srgbClr val="C9C5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081527"/>
            <a:ext cx="3474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6E6A63"/>
                </a:solidFill>
                <a:latin typeface="Helvetica Neue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054095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 i="0">
                <a:solidFill>
                  <a:srgbClr val="191919"/>
                </a:solidFill>
                <a:latin typeface="Helvetica Neue"/>
              </a:rPr>
              <a:t>Detect cycles from the edited cell (DFS colouring)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575303"/>
            <a:ext cx="347472" cy="347472"/>
          </a:xfrm>
          <a:prstGeom prst="roundRect">
            <a:avLst>
              <a:gd name="adj" fmla="val 22000"/>
            </a:avLst>
          </a:prstGeom>
          <a:solidFill>
            <a:srgbClr val="E4E1D7"/>
          </a:solidFill>
          <a:ln w="9525">
            <a:solidFill>
              <a:srgbClr val="C9C5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648455"/>
            <a:ext cx="3474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6E6A63"/>
                </a:solidFill>
                <a:latin typeface="Helvetica Neue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621023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 i="0">
                <a:solidFill>
                  <a:srgbClr val="191919"/>
                </a:solidFill>
                <a:latin typeface="Helvetica Neue"/>
              </a:rPr>
              <a:t>Dirty set = transitive dependents of the edited cell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142231"/>
            <a:ext cx="347472" cy="347472"/>
          </a:xfrm>
          <a:prstGeom prst="roundRect">
            <a:avLst>
              <a:gd name="adj" fmla="val 22000"/>
            </a:avLst>
          </a:prstGeom>
          <a:solidFill>
            <a:srgbClr val="E4E1D7"/>
          </a:solidFill>
          <a:ln w="9525">
            <a:solidFill>
              <a:srgbClr val="C9C5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215383"/>
            <a:ext cx="3474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6E6A63"/>
                </a:solidFill>
                <a:latin typeface="Helvetica Neue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187951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 i="0">
                <a:solidFill>
                  <a:srgbClr val="191919"/>
                </a:solidFill>
                <a:latin typeface="Helvetica Neue"/>
              </a:rPr>
              <a:t>Re-evaluate the dirty set in Kahn topological order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4709159"/>
            <a:ext cx="347472" cy="347472"/>
          </a:xfrm>
          <a:prstGeom prst="roundRect">
            <a:avLst>
              <a:gd name="adj" fmla="val 22000"/>
            </a:avLst>
          </a:prstGeom>
          <a:solidFill>
            <a:srgbClr val="E4E1D7"/>
          </a:solidFill>
          <a:ln w="9525">
            <a:solidFill>
              <a:srgbClr val="C9C5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782311"/>
            <a:ext cx="3474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6E6A63"/>
                </a:solidFill>
                <a:latin typeface="Helvetica Neue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754879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 i="0">
                <a:solidFill>
                  <a:srgbClr val="191919"/>
                </a:solidFill>
                <a:latin typeface="Helvetica Neue"/>
              </a:rPr>
              <a:t>Record statistics: cells recomputed, instructions, time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1828800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6E6A63"/>
                </a:solidFill>
                <a:latin typeface="Helvetica Neue"/>
              </a:rPr>
              <a:t>WHY IT MATTERS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92240" y="2212848"/>
            <a:ext cx="4873752" cy="1371600"/>
          </a:xfrm>
          <a:prstGeom prst="roundRect">
            <a:avLst>
              <a:gd name="adj" fmla="val 5000"/>
            </a:avLst>
          </a:prstGeom>
          <a:solidFill>
            <a:srgbClr val="FAF9F5"/>
          </a:solidFill>
          <a:ln w="9525">
            <a:solidFill>
              <a:srgbClr val="C9C5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12280" y="2432304"/>
            <a:ext cx="42976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350" b="0" i="0">
                <a:solidFill>
                  <a:srgbClr val="191919"/>
                </a:solidFill>
                <a:latin typeface="Helvetica Neue"/>
              </a:rPr>
              <a:t>A full recompute is the same code path with the dirty set equal to every formula cell — one algorithm, exercised two ways.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92240" y="3749039"/>
            <a:ext cx="4873752" cy="2148840"/>
          </a:xfrm>
          <a:prstGeom prst="roundRect">
            <a:avLst>
              <a:gd name="adj" fmla="val 4000"/>
            </a:avLst>
          </a:prstGeom>
          <a:solidFill>
            <a:srgbClr val="3D3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12280" y="3977639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C9C5B8"/>
                </a:solidFill>
                <a:latin typeface="Helvetica Neue"/>
              </a:rPr>
              <a:t>PHASE 3 TARGET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12280" y="4315968"/>
            <a:ext cx="4297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0" i="0">
                <a:solidFill>
                  <a:srgbClr val="F0EEE6"/>
                </a:solidFill>
                <a:latin typeface="Georgia"/>
              </a:rPr>
              <a:t>1 edit → 14 cells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2280" y="4956048"/>
            <a:ext cx="4297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C9C5B8"/>
                </a:solidFill>
                <a:latin typeface="Helvetica Neue"/>
              </a:rPr>
              <a:t>on a 10 000-formula benchmark sheet, instead of recomputing all 10 000 — measured and reported by the stats command.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6E6A63"/>
                </a:solidFill>
                <a:latin typeface="Helvetica Neue"/>
              </a:rPr>
              <a:t>FROZEN AT PHASE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0" i="0">
                <a:solidFill>
                  <a:srgbClr val="191919"/>
                </a:solidFill>
                <a:latin typeface="Georgia"/>
              </a:rPr>
              <a:t>Language Specification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89888"/>
            <a:ext cx="10543032" cy="12700"/>
          </a:xfrm>
          <a:prstGeom prst="rect">
            <a:avLst/>
          </a:prstGeom>
          <a:solidFill>
            <a:srgbClr val="C9C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92640" y="475488"/>
            <a:ext cx="16733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73706A"/>
                </a:solidFill>
                <a:latin typeface="Helvetica Neue"/>
              </a:rPr>
              <a:t>TABULA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327648"/>
            <a:ext cx="4846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73706A"/>
                </a:solidFill>
                <a:latin typeface="Helvetica Neue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6E6A63"/>
                </a:solidFill>
                <a:latin typeface="Helvetica Neue"/>
              </a:rPr>
              <a:t>GRAMMAR (EBNF, ABRIDGED)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084831"/>
            <a:ext cx="5120640" cy="2395728"/>
          </a:xfrm>
          <a:prstGeom prst="roundRect">
            <a:avLst>
              <a:gd name="adj" fmla="val 3000"/>
            </a:avLst>
          </a:prstGeom>
          <a:solidFill>
            <a:srgbClr val="FAF9F5"/>
          </a:solidFill>
          <a:ln w="9525">
            <a:solidFill>
              <a:srgbClr val="C9C5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6000" rIns="126000" tIns="100000" bIns="100000"/>
          <a:lstStyle/>
          <a:p>
            <a:pPr algn="ctr">
              <a:lnSpc>
                <a:spcPct val="116000"/>
              </a:lnSpc>
            </a:pPr>
            <a:r>
              <a:rPr sz="1000" b="0">
                <a:solidFill>
                  <a:srgbClr val="191919"/>
                </a:solidFill>
                <a:latin typeface="Menlo"/>
              </a:rPr>
              <a:t>formula     = "=" expression EOF ;</a:t>
            </a:r>
          </a:p>
          <a:p>
            <a:pPr>
              <a:lnSpc>
                <a:spcPct val="116000"/>
              </a:lnSpc>
            </a:pPr>
            <a:r>
              <a:rPr sz="1000" b="0">
                <a:solidFill>
                  <a:srgbClr val="191919"/>
                </a:solidFill>
                <a:latin typeface="Menlo"/>
              </a:rPr>
              <a:t>expression  = comparison ;</a:t>
            </a:r>
          </a:p>
          <a:p>
            <a:pPr>
              <a:lnSpc>
                <a:spcPct val="116000"/>
              </a:lnSpc>
            </a:pPr>
            <a:r>
              <a:rPr sz="1000" b="0">
                <a:solidFill>
                  <a:srgbClr val="191919"/>
                </a:solidFill>
                <a:latin typeface="Menlo"/>
              </a:rPr>
              <a:t>comparison  = concat { ("="|"&lt;&gt;"|"&lt;"|"&lt;="</a:t>
            </a:r>
          </a:p>
          <a:p>
            <a:pPr>
              <a:lnSpc>
                <a:spcPct val="116000"/>
              </a:lnSpc>
            </a:pPr>
            <a:r>
              <a:rPr sz="1000" b="0">
                <a:solidFill>
                  <a:srgbClr val="191919"/>
                </a:solidFill>
                <a:latin typeface="Menlo"/>
              </a:rPr>
              <a:t>                      |"&gt;"|"&gt;=") concat } ;</a:t>
            </a:r>
          </a:p>
          <a:p>
            <a:pPr>
              <a:lnSpc>
                <a:spcPct val="116000"/>
              </a:lnSpc>
            </a:pPr>
            <a:r>
              <a:rPr sz="1000" b="0">
                <a:solidFill>
                  <a:srgbClr val="191919"/>
                </a:solidFill>
                <a:latin typeface="Menlo"/>
              </a:rPr>
              <a:t>concat      = additive { "&amp;" additive } ;</a:t>
            </a:r>
          </a:p>
          <a:p>
            <a:pPr>
              <a:lnSpc>
                <a:spcPct val="116000"/>
              </a:lnSpc>
            </a:pPr>
            <a:r>
              <a:rPr sz="1000" b="0">
                <a:solidFill>
                  <a:srgbClr val="191919"/>
                </a:solidFill>
                <a:latin typeface="Menlo"/>
              </a:rPr>
              <a:t>additive    = mult { ("+"|"-") mult } ;</a:t>
            </a:r>
          </a:p>
          <a:p>
            <a:pPr>
              <a:lnSpc>
                <a:spcPct val="116000"/>
              </a:lnSpc>
            </a:pPr>
            <a:r>
              <a:rPr sz="1000" b="0">
                <a:solidFill>
                  <a:srgbClr val="191919"/>
                </a:solidFill>
                <a:latin typeface="Menlo"/>
              </a:rPr>
              <a:t>mult        = power { ("*"|"/"|"%") power } ;</a:t>
            </a:r>
          </a:p>
          <a:p>
            <a:pPr>
              <a:lnSpc>
                <a:spcPct val="116000"/>
              </a:lnSpc>
            </a:pPr>
            <a:r>
              <a:rPr sz="1000" b="1">
                <a:solidFill>
                  <a:srgbClr val="191919"/>
                </a:solidFill>
                <a:latin typeface="Menlo"/>
              </a:rPr>
              <a:t>power       = unary [ "^" power ] ;</a:t>
            </a:r>
          </a:p>
          <a:p>
            <a:pPr>
              <a:lnSpc>
                <a:spcPct val="116000"/>
              </a:lnSpc>
            </a:pPr>
            <a:r>
              <a:rPr sz="1000" b="0">
                <a:solidFill>
                  <a:srgbClr val="191919"/>
                </a:solidFill>
                <a:latin typeface="Menlo"/>
              </a:rPr>
              <a:t>unary       = "-" unary | primary ;</a:t>
            </a:r>
          </a:p>
          <a:p>
            <a:pPr>
              <a:lnSpc>
                <a:spcPct val="116000"/>
              </a:lnSpc>
            </a:pPr>
            <a:r>
              <a:rPr sz="1000" b="0">
                <a:solidFill>
                  <a:srgbClr val="191919"/>
                </a:solidFill>
                <a:latin typeface="Menlo"/>
              </a:rPr>
              <a:t>primary     = NUMBER | STRING | BOOLEAN | range</a:t>
            </a:r>
          </a:p>
          <a:p>
            <a:pPr>
              <a:lnSpc>
                <a:spcPct val="116000"/>
              </a:lnSpc>
            </a:pPr>
            <a:r>
              <a:rPr sz="1000" b="0">
                <a:solidFill>
                  <a:srgbClr val="191919"/>
                </a:solidFill>
                <a:latin typeface="Menlo"/>
              </a:rPr>
              <a:t>            | CELLREF | IDENT | IDENT "(" args ")"</a:t>
            </a:r>
          </a:p>
          <a:p>
            <a:pPr>
              <a:lnSpc>
                <a:spcPct val="116000"/>
              </a:lnSpc>
            </a:pPr>
            <a:r>
              <a:rPr sz="1000" b="0">
                <a:solidFill>
                  <a:srgbClr val="191919"/>
                </a:solidFill>
                <a:latin typeface="Menlo"/>
              </a:rPr>
              <a:t>            | "(" expression ")" 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61772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 i="1">
                <a:solidFill>
                  <a:srgbClr val="73706A"/>
                </a:solidFill>
                <a:latin typeface="Helvetica Neue"/>
              </a:rPr>
              <a:t>power is right-associative — the one rule that makes =2^3^2 evaluate to 512, not 64.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737360"/>
            <a:ext cx="50109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6E6A63"/>
                </a:solidFill>
                <a:latin typeface="Helvetica Neue"/>
              </a:rPr>
              <a:t>TOKENS AND TYPES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55080" y="2084831"/>
          <a:ext cx="5010912" cy="2423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91640"/>
                <a:gridCol w="3319272"/>
              </a:tblGrid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050" b="1">
                          <a:solidFill>
                            <a:srgbClr val="191919"/>
                          </a:solidFill>
                          <a:latin typeface="Helvetica Neue"/>
                        </a:rPr>
                        <a:t>Class</a:t>
                      </a:r>
                    </a:p>
                  </a:txBody>
                  <a:tcPr marL="72000" marR="72000" marT="36000" marB="36000" anchor="ctr">
                    <a:solidFill>
                      <a:srgbClr val="E4E1D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050" b="1">
                          <a:solidFill>
                            <a:srgbClr val="191919"/>
                          </a:solidFill>
                          <a:latin typeface="Helvetica Neue"/>
                        </a:rPr>
                        <a:t>Form</a:t>
                      </a:r>
                    </a:p>
                  </a:txBody>
                  <a:tcPr marL="72000" marR="72000" marT="36000" marB="36000" anchor="ctr">
                    <a:solidFill>
                      <a:srgbClr val="E4E1D7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0">
                          <a:solidFill>
                            <a:srgbClr val="191919"/>
                          </a:solidFill>
                          <a:latin typeface="Helvetica Neue"/>
                        </a:rPr>
                        <a:t>Cell reference</a:t>
                      </a:r>
                    </a:p>
                  </a:txBody>
                  <a:tcPr marL="72000" marR="72000" marT="36000" marB="36000" anchor="ctr">
                    <a:solidFill>
                      <a:srgbClr val="FAF9F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0">
                          <a:solidFill>
                            <a:srgbClr val="191919"/>
                          </a:solidFill>
                          <a:latin typeface="Helvetica Neue"/>
                        </a:rPr>
                        <a:t>A1 · $B$2 · AA10   (A–ZZ × 1–10 000)</a:t>
                      </a:r>
                    </a:p>
                  </a:txBody>
                  <a:tcPr marL="72000" marR="72000" marT="36000" marB="36000" anchor="ctr">
                    <a:solidFill>
                      <a:srgbClr val="FAF9F5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0">
                          <a:solidFill>
                            <a:srgbClr val="191919"/>
                          </a:solidFill>
                          <a:latin typeface="Helvetica Neue"/>
                        </a:rPr>
                        <a:t>Range</a:t>
                      </a:r>
                    </a:p>
                  </a:txBody>
                  <a:tcPr marL="72000" marR="72000" marT="36000" marB="36000" anchor="ctr">
                    <a:solidFill>
                      <a:srgbClr val="FAF9F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0">
                          <a:solidFill>
                            <a:srgbClr val="191919"/>
                          </a:solidFill>
                          <a:latin typeface="Helvetica Neue"/>
                        </a:rPr>
                        <a:t>A1:B4</a:t>
                      </a:r>
                    </a:p>
                  </a:txBody>
                  <a:tcPr marL="72000" marR="72000" marT="36000" marB="36000" anchor="ctr">
                    <a:solidFill>
                      <a:srgbClr val="FAF9F5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0">
                          <a:solidFill>
                            <a:srgbClr val="191919"/>
                          </a:solidFill>
                          <a:latin typeface="Helvetica Neue"/>
                        </a:rPr>
                        <a:t>Literals</a:t>
                      </a:r>
                    </a:p>
                  </a:txBody>
                  <a:tcPr marL="72000" marR="72000" marT="36000" marB="36000" anchor="ctr">
                    <a:solidFill>
                      <a:srgbClr val="FAF9F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0">
                          <a:solidFill>
                            <a:srgbClr val="191919"/>
                          </a:solidFill>
                          <a:latin typeface="Helvetica Neue"/>
                        </a:rPr>
                        <a:t>12 · 3.5 · .5 · "text" · TRUE / FALSE</a:t>
                      </a:r>
                    </a:p>
                  </a:txBody>
                  <a:tcPr marL="72000" marR="72000" marT="36000" marB="36000" anchor="ctr">
                    <a:solidFill>
                      <a:srgbClr val="FAF9F5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0">
                          <a:solidFill>
                            <a:srgbClr val="191919"/>
                          </a:solidFill>
                          <a:latin typeface="Helvetica Neue"/>
                        </a:rPr>
                        <a:t>Operators</a:t>
                      </a:r>
                    </a:p>
                  </a:txBody>
                  <a:tcPr marL="72000" marR="72000" marT="36000" marB="36000" anchor="ctr">
                    <a:solidFill>
                      <a:srgbClr val="FAF9F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0">
                          <a:solidFill>
                            <a:srgbClr val="191919"/>
                          </a:solidFill>
                          <a:latin typeface="Helvetica Neue"/>
                        </a:rPr>
                        <a:t>+ − * / % ^  &amp;  = &lt;&gt; &lt; &lt;= &gt; &gt;=</a:t>
                      </a:r>
                    </a:p>
                  </a:txBody>
                  <a:tcPr marL="72000" marR="72000" marT="36000" marB="36000" anchor="ctr">
                    <a:solidFill>
                      <a:srgbClr val="FAF9F5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0">
                          <a:solidFill>
                            <a:srgbClr val="191919"/>
                          </a:solidFill>
                          <a:latin typeface="Helvetica Neue"/>
                        </a:rPr>
                        <a:t>Types</a:t>
                      </a:r>
                    </a:p>
                  </a:txBody>
                  <a:tcPr marL="72000" marR="72000" marT="36000" marB="36000" anchor="ctr">
                    <a:solidFill>
                      <a:srgbClr val="FAF9F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0">
                          <a:solidFill>
                            <a:srgbClr val="191919"/>
                          </a:solidFill>
                          <a:latin typeface="Helvetica Neue"/>
                        </a:rPr>
                        <a:t>Number · Text · Boolean · Blank · Error</a:t>
                      </a:r>
                    </a:p>
                  </a:txBody>
                  <a:tcPr marL="72000" marR="72000" marT="36000" marB="36000" anchor="ctr">
                    <a:solidFill>
                      <a:srgbClr val="FAF9F5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355080" y="4617720"/>
            <a:ext cx="501091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73706A"/>
                </a:solidFill>
                <a:latin typeface="Helvetica Neue"/>
              </a:rPr>
              <a:t>Coercions: Blank → 0 or "" by context; Boolean → 1/0 numerically; text is never implicitly numeric, so ="2"+1 is an error.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6E6A63"/>
                </a:solidFill>
                <a:latin typeface="Helvetica Neue"/>
              </a:rPr>
              <a:t>ERRORS ARE VALUES, NOT CRASHES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0" i="0">
                <a:solidFill>
                  <a:srgbClr val="191919"/>
                </a:solidFill>
                <a:latin typeface="Georgia"/>
              </a:rPr>
              <a:t>Error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89888"/>
            <a:ext cx="10543032" cy="12700"/>
          </a:xfrm>
          <a:prstGeom prst="rect">
            <a:avLst/>
          </a:prstGeom>
          <a:solidFill>
            <a:srgbClr val="C9C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92640" y="475488"/>
            <a:ext cx="16733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73706A"/>
                </a:solidFill>
                <a:latin typeface="Helvetica Neue"/>
              </a:rPr>
              <a:t>TABULA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327648"/>
            <a:ext cx="4846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73706A"/>
                </a:solidFill>
                <a:latin typeface="Helvetica Neue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74519"/>
            <a:ext cx="6492240" cy="548640"/>
          </a:xfrm>
          <a:prstGeom prst="roundRect">
            <a:avLst>
              <a:gd name="adj" fmla="val 8000"/>
            </a:avLst>
          </a:prstGeom>
          <a:solidFill>
            <a:srgbClr val="FAF9F5"/>
          </a:solidFill>
          <a:ln w="9525">
            <a:solidFill>
              <a:srgbClr val="C9C5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020823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191919"/>
                </a:solidFill>
                <a:latin typeface="Menlo"/>
              </a:rPr>
              <a:t>#NAME?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029967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91919"/>
                </a:solidFill>
                <a:latin typeface="Helvetica Neue"/>
              </a:rPr>
              <a:t>Unknown function or named range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039111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73706A"/>
                </a:solidFill>
                <a:latin typeface="Helvetica Neue"/>
              </a:rPr>
              <a:t>SEMANTIC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532887"/>
            <a:ext cx="6492240" cy="548640"/>
          </a:xfrm>
          <a:prstGeom prst="roundRect">
            <a:avLst>
              <a:gd name="adj" fmla="val 8000"/>
            </a:avLst>
          </a:prstGeom>
          <a:solidFill>
            <a:srgbClr val="FAF9F5"/>
          </a:solidFill>
          <a:ln w="9525">
            <a:solidFill>
              <a:srgbClr val="C9C5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679191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191919"/>
                </a:solidFill>
                <a:latin typeface="Menlo"/>
              </a:rPr>
              <a:t>#REF!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2688335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91919"/>
                </a:solidFill>
                <a:latin typeface="Helvetica Neue"/>
              </a:rPr>
              <a:t>Reference outside grid bounds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697479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73706A"/>
                </a:solidFill>
                <a:latin typeface="Helvetica Neue"/>
              </a:rPr>
              <a:t>SEMANTIC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191255"/>
            <a:ext cx="6492240" cy="548640"/>
          </a:xfrm>
          <a:prstGeom prst="roundRect">
            <a:avLst>
              <a:gd name="adj" fmla="val 8000"/>
            </a:avLst>
          </a:prstGeom>
          <a:solidFill>
            <a:srgbClr val="FAF9F5"/>
          </a:solidFill>
          <a:ln w="9525">
            <a:solidFill>
              <a:srgbClr val="C9C5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337559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191919"/>
                </a:solidFill>
                <a:latin typeface="Menlo"/>
              </a:rPr>
              <a:t>#VALUE!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3346703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91919"/>
                </a:solidFill>
                <a:latin typeface="Helvetica Neue"/>
              </a:rPr>
              <a:t>Type error, or a formula that failed to compile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3355847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73706A"/>
                </a:solidFill>
                <a:latin typeface="Helvetica Neue"/>
              </a:rPr>
              <a:t>COMPILE / RUNTIME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3849623"/>
            <a:ext cx="6492240" cy="548640"/>
          </a:xfrm>
          <a:prstGeom prst="roundRect">
            <a:avLst>
              <a:gd name="adj" fmla="val 8000"/>
            </a:avLst>
          </a:prstGeom>
          <a:solidFill>
            <a:srgbClr val="FAF9F5"/>
          </a:solidFill>
          <a:ln w="9525">
            <a:solidFill>
              <a:srgbClr val="C9C5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3995927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191919"/>
                </a:solidFill>
                <a:latin typeface="Menlo"/>
              </a:rPr>
              <a:t>#DIV/0!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4005071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91919"/>
                </a:solidFill>
                <a:latin typeface="Helvetica Neue"/>
              </a:rPr>
              <a:t>Division or modulo by zero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4014215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73706A"/>
                </a:solidFill>
                <a:latin typeface="Helvetica Neue"/>
              </a:rPr>
              <a:t>RUNTIME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4507991"/>
            <a:ext cx="6492240" cy="548640"/>
          </a:xfrm>
          <a:prstGeom prst="roundRect">
            <a:avLst>
              <a:gd name="adj" fmla="val 8000"/>
            </a:avLst>
          </a:prstGeom>
          <a:solidFill>
            <a:srgbClr val="FAF9F5"/>
          </a:solidFill>
          <a:ln w="9525">
            <a:solidFill>
              <a:srgbClr val="C9C5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4654295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191919"/>
                </a:solidFill>
                <a:latin typeface="Menlo"/>
              </a:rPr>
              <a:t>#CYCLE!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68880" y="4663439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91919"/>
                </a:solidFill>
                <a:latin typeface="Helvetica Neue"/>
              </a:rPr>
              <a:t>Cell participates in a reference cycle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4672583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73706A"/>
                </a:solidFill>
                <a:latin typeface="Helvetica Neue"/>
              </a:rPr>
              <a:t>WHOLE-SHEET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0" y="1874519"/>
            <a:ext cx="3593592" cy="2194560"/>
          </a:xfrm>
          <a:prstGeom prst="roundRect">
            <a:avLst>
              <a:gd name="adj" fmla="val 4000"/>
            </a:avLst>
          </a:prstGeom>
          <a:solidFill>
            <a:srgbClr val="3D3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92440" y="210312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C9C5B8"/>
                </a:solidFill>
                <a:latin typeface="Helvetica Neue"/>
              </a:rPr>
              <a:t>PROPAGATION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2440" y="2450592"/>
            <a:ext cx="30175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 i="0">
                <a:solidFill>
                  <a:srgbClr val="F0EEE6"/>
                </a:solidFill>
                <a:latin typeface="Helvetica Neue"/>
              </a:rPr>
              <a:t>Any error operand makes the result that error, so a fault flows to dependent cells exactly as in a real spreadsheet — while every unrelated cell keeps evaluating.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0" y="4251960"/>
            <a:ext cx="3593592" cy="1828800"/>
          </a:xfrm>
          <a:prstGeom prst="roundRect">
            <a:avLst>
              <a:gd name="adj" fmla="val 4000"/>
            </a:avLst>
          </a:prstGeom>
          <a:solidFill>
            <a:srgbClr val="FAF9F5"/>
          </a:solidFill>
          <a:ln w="9525">
            <a:solidFill>
              <a:srgbClr val="C9C5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92440" y="448056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6E6A63"/>
                </a:solidFill>
                <a:latin typeface="Helvetica Neue"/>
              </a:rPr>
              <a:t>CONTAINMENT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92440" y="4828032"/>
            <a:ext cx="30175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 i="0">
                <a:solidFill>
                  <a:srgbClr val="191919"/>
                </a:solidFill>
                <a:latin typeface="Helvetica Neue"/>
              </a:rPr>
              <a:t>A formula that fails to compile is stored as a broken cell showing #VALUE!. The engine process never crashes on any input.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6E6A63"/>
                </a:solidFill>
                <a:latin typeface="Helvetica Neue"/>
              </a:rPr>
              <a:t>WHAT IS NEW 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0" i="0">
                <a:solidFill>
                  <a:srgbClr val="191919"/>
                </a:solidFill>
                <a:latin typeface="Georgia"/>
              </a:rPr>
              <a:t>Innovation and Originality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89888"/>
            <a:ext cx="10543032" cy="12700"/>
          </a:xfrm>
          <a:prstGeom prst="rect">
            <a:avLst/>
          </a:prstGeom>
          <a:solidFill>
            <a:srgbClr val="C9C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92640" y="475488"/>
            <a:ext cx="16733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73706A"/>
                </a:solidFill>
                <a:latin typeface="Helvetica Neue"/>
              </a:rPr>
              <a:t>TABULA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327648"/>
            <a:ext cx="4846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73706A"/>
                </a:solidFill>
                <a:latin typeface="Helvetica Neue"/>
              </a:rPr>
              <a:t>14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828800"/>
            <a:ext cx="640080" cy="30480"/>
          </a:xfrm>
          <a:prstGeom prst="rect">
            <a:avLst/>
          </a:prstGeom>
          <a:solidFill>
            <a:srgbClr val="6E6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029968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191919"/>
                </a:solidFill>
                <a:latin typeface="Georgia"/>
              </a:rPr>
              <a:t>Incremental recomputation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432304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0">
                <a:solidFill>
                  <a:srgbClr val="73706A"/>
                </a:solidFill>
                <a:latin typeface="Helvetica Neue"/>
              </a:rPr>
              <a:t>Dependency-graph-driven minimal re-evaluation, with live statistics proving it — the headline feature.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828800"/>
            <a:ext cx="640080" cy="30480"/>
          </a:xfrm>
          <a:prstGeom prst="rect">
            <a:avLst/>
          </a:prstGeom>
          <a:solidFill>
            <a:srgbClr val="6E6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2029968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191919"/>
                </a:solidFill>
                <a:latin typeface="Georgia"/>
              </a:rPr>
              <a:t>Cycle detection as a diagnostic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2432304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0">
                <a:solidFill>
                  <a:srgbClr val="73706A"/>
                </a:solidFill>
                <a:latin typeface="Helvetica Neue"/>
              </a:rPr>
              <a:t>#CYCLE! reports the actual path, for example C1 → D2 → C1, rather than a bare warning.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291840"/>
            <a:ext cx="640080" cy="30480"/>
          </a:xfrm>
          <a:prstGeom prst="rect">
            <a:avLst/>
          </a:prstGeom>
          <a:solidFill>
            <a:srgbClr val="6E6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493008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191919"/>
                </a:solidFill>
                <a:latin typeface="Georgia"/>
              </a:rPr>
              <a:t>explain — a per-cell compiler X-ray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895344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0">
                <a:solidFill>
                  <a:srgbClr val="73706A"/>
                </a:solidFill>
                <a:latin typeface="Helvetica Neue"/>
              </a:rPr>
              <a:t>Tokens, AST, precedents, optimization diff and bytecode for any cell, unified in an HTML report.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3291840"/>
            <a:ext cx="640080" cy="30480"/>
          </a:xfrm>
          <a:prstGeom prst="rect">
            <a:avLst/>
          </a:prstGeom>
          <a:solidFill>
            <a:srgbClr val="6E6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3493008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191919"/>
                </a:solidFill>
                <a:latin typeface="Georgia"/>
              </a:rPr>
              <a:t>Faithful error-value semantics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3895344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0">
                <a:solidFill>
                  <a:srgbClr val="73706A"/>
                </a:solidFill>
                <a:latin typeface="Helvetica Neue"/>
              </a:rPr>
              <a:t>Errors as typed values that propagate — a semantics topic beyond the usual course project.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4754880"/>
            <a:ext cx="640080" cy="30480"/>
          </a:xfrm>
          <a:prstGeom prst="rect">
            <a:avLst/>
          </a:prstGeom>
          <a:solidFill>
            <a:srgbClr val="6E6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956048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191919"/>
                </a:solidFill>
                <a:latin typeface="Georgia"/>
              </a:rPr>
              <a:t>Fully hand-written front 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358384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0">
                <a:solidFill>
                  <a:srgbClr val="73706A"/>
                </a:solidFill>
                <a:latin typeface="Helvetica Neue"/>
              </a:rPr>
              <a:t>No parser generators, no eval: every algorithm implemented and explainable.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6E6A63"/>
                </a:solidFill>
                <a:latin typeface="Helvetica Neue"/>
              </a:rPr>
              <a:t>PHASE 1 DELIVERABLE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0" i="0">
                <a:solidFill>
                  <a:srgbClr val="191919"/>
                </a:solidFill>
                <a:latin typeface="Georgia"/>
              </a:rPr>
              <a:t>Prototype — What Is Implemented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89888"/>
            <a:ext cx="10543032" cy="12700"/>
          </a:xfrm>
          <a:prstGeom prst="rect">
            <a:avLst/>
          </a:prstGeom>
          <a:solidFill>
            <a:srgbClr val="C9C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92640" y="475488"/>
            <a:ext cx="16733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73706A"/>
                </a:solidFill>
                <a:latin typeface="Helvetica Neue"/>
              </a:rPr>
              <a:t>TABULA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327648"/>
            <a:ext cx="4846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73706A"/>
                </a:solidFill>
                <a:latin typeface="Helvetica Neue"/>
              </a:rPr>
              <a:t>15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783080"/>
          <a:ext cx="6766560" cy="35112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63040"/>
                <a:gridCol w="777240"/>
                <a:gridCol w="4526280"/>
              </a:tblGrid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050" b="1">
                          <a:solidFill>
                            <a:srgbClr val="191919"/>
                          </a:solidFill>
                          <a:latin typeface="Helvetica Neue"/>
                        </a:rPr>
                        <a:t>Module</a:t>
                      </a:r>
                    </a:p>
                  </a:txBody>
                  <a:tcPr marL="72000" marR="72000" marT="36000" marB="36000" anchor="ctr">
                    <a:solidFill>
                      <a:srgbClr val="E4E1D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050" b="1">
                          <a:solidFill>
                            <a:srgbClr val="191919"/>
                          </a:solidFill>
                          <a:latin typeface="Helvetica Neue"/>
                        </a:rPr>
                        <a:t>Lines</a:t>
                      </a:r>
                    </a:p>
                  </a:txBody>
                  <a:tcPr marL="72000" marR="72000" marT="36000" marB="36000" anchor="ctr">
                    <a:solidFill>
                      <a:srgbClr val="E4E1D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050" b="1">
                          <a:solidFill>
                            <a:srgbClr val="191919"/>
                          </a:solidFill>
                          <a:latin typeface="Helvetica Neue"/>
                        </a:rPr>
                        <a:t>Contents</a:t>
                      </a:r>
                    </a:p>
                  </a:txBody>
                  <a:tcPr marL="72000" marR="72000" marT="36000" marB="36000" anchor="ctr">
                    <a:solidFill>
                      <a:srgbClr val="E4E1D7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0">
                          <a:solidFill>
                            <a:srgbClr val="191919"/>
                          </a:solidFill>
                          <a:latin typeface="Helvetica Neue"/>
                        </a:rPr>
                        <a:t>refs.py</a:t>
                      </a:r>
                    </a:p>
                  </a:txBody>
                  <a:tcPr marL="72000" marR="72000" marT="36000" marB="36000" anchor="ctr">
                    <a:solidFill>
                      <a:srgbClr val="FAF9F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0">
                          <a:solidFill>
                            <a:srgbClr val="191919"/>
                          </a:solidFill>
                          <a:latin typeface="Helvetica Neue"/>
                        </a:rPr>
                        <a:t>70</a:t>
                      </a:r>
                    </a:p>
                  </a:txBody>
                  <a:tcPr marL="72000" marR="72000" marT="36000" marB="36000" anchor="ctr">
                    <a:solidFill>
                      <a:srgbClr val="FAF9F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0">
                          <a:solidFill>
                            <a:srgbClr val="191919"/>
                          </a:solidFill>
                          <a:latin typeface="Helvetica Neue"/>
                        </a:rPr>
                        <a:t>References, bounds, column conversion</a:t>
                      </a:r>
                    </a:p>
                  </a:txBody>
                  <a:tcPr marL="72000" marR="72000" marT="36000" marB="36000" anchor="ctr">
                    <a:solidFill>
                      <a:srgbClr val="FAF9F5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0">
                          <a:solidFill>
                            <a:srgbClr val="191919"/>
                          </a:solidFill>
                          <a:latin typeface="Helvetica Neue"/>
                        </a:rPr>
                        <a:t>values.py</a:t>
                      </a:r>
                    </a:p>
                  </a:txBody>
                  <a:tcPr marL="72000" marR="72000" marT="36000" marB="36000" anchor="ctr">
                    <a:solidFill>
                      <a:srgbClr val="FAF9F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0">
                          <a:solidFill>
                            <a:srgbClr val="191919"/>
                          </a:solidFill>
                          <a:latin typeface="Helvetica Neue"/>
                        </a:rPr>
                        <a:t>66</a:t>
                      </a:r>
                    </a:p>
                  </a:txBody>
                  <a:tcPr marL="72000" marR="72000" marT="36000" marB="36000" anchor="ctr">
                    <a:solidFill>
                      <a:srgbClr val="FAF9F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0">
                          <a:solidFill>
                            <a:srgbClr val="191919"/>
                          </a:solidFill>
                          <a:latin typeface="Helvetica Neue"/>
                        </a:rPr>
                        <a:t>Value model, error values, coercions</a:t>
                      </a:r>
                    </a:p>
                  </a:txBody>
                  <a:tcPr marL="72000" marR="72000" marT="36000" marB="36000" anchor="ctr">
                    <a:solidFill>
                      <a:srgbClr val="FAF9F5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0">
                          <a:solidFill>
                            <a:srgbClr val="191919"/>
                          </a:solidFill>
                          <a:latin typeface="Helvetica Neue"/>
                        </a:rPr>
                        <a:t>lexer.py</a:t>
                      </a:r>
                    </a:p>
                  </a:txBody>
                  <a:tcPr marL="72000" marR="72000" marT="36000" marB="36000" anchor="ctr">
                    <a:solidFill>
                      <a:srgbClr val="FAF9F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0">
                          <a:solidFill>
                            <a:srgbClr val="191919"/>
                          </a:solidFill>
                          <a:latin typeface="Helvetica Neue"/>
                        </a:rPr>
                        <a:t>119</a:t>
                      </a:r>
                    </a:p>
                  </a:txBody>
                  <a:tcPr marL="72000" marR="72000" marT="36000" marB="36000" anchor="ctr">
                    <a:solidFill>
                      <a:srgbClr val="FAF9F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0">
                          <a:solidFill>
                            <a:srgbClr val="191919"/>
                          </a:solidFill>
                          <a:latin typeface="Helvetica Neue"/>
                        </a:rPr>
                        <a:t>Hand-written scanner, positioned errors</a:t>
                      </a:r>
                    </a:p>
                  </a:txBody>
                  <a:tcPr marL="72000" marR="72000" marT="36000" marB="36000" anchor="ctr">
                    <a:solidFill>
                      <a:srgbClr val="FAF9F5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0">
                          <a:solidFill>
                            <a:srgbClr val="191919"/>
                          </a:solidFill>
                          <a:latin typeface="Helvetica Neue"/>
                        </a:rPr>
                        <a:t>parser.py</a:t>
                      </a:r>
                    </a:p>
                  </a:txBody>
                  <a:tcPr marL="72000" marR="72000" marT="36000" marB="36000" anchor="ctr">
                    <a:solidFill>
                      <a:srgbClr val="FAF9F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0">
                          <a:solidFill>
                            <a:srgbClr val="191919"/>
                          </a:solidFill>
                          <a:latin typeface="Helvetica Neue"/>
                        </a:rPr>
                        <a:t>197</a:t>
                      </a:r>
                    </a:p>
                  </a:txBody>
                  <a:tcPr marL="72000" marR="72000" marT="36000" marB="36000" anchor="ctr">
                    <a:solidFill>
                      <a:srgbClr val="FAF9F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0">
                          <a:solidFill>
                            <a:srgbClr val="191919"/>
                          </a:solidFill>
                          <a:latin typeface="Helvetica Neue"/>
                        </a:rPr>
                        <a:t>Pratt parser, AST, tree printer</a:t>
                      </a:r>
                    </a:p>
                  </a:txBody>
                  <a:tcPr marL="72000" marR="72000" marT="36000" marB="36000" anchor="ctr">
                    <a:solidFill>
                      <a:srgbClr val="FAF9F5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0">
                          <a:solidFill>
                            <a:srgbClr val="191919"/>
                          </a:solidFill>
                          <a:latin typeface="Helvetica Neue"/>
                        </a:rPr>
                        <a:t>evaluator.py</a:t>
                      </a:r>
                    </a:p>
                  </a:txBody>
                  <a:tcPr marL="72000" marR="72000" marT="36000" marB="36000" anchor="ctr">
                    <a:solidFill>
                      <a:srgbClr val="FAF9F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0">
                          <a:solidFill>
                            <a:srgbClr val="191919"/>
                          </a:solidFill>
                          <a:latin typeface="Helvetica Neue"/>
                        </a:rPr>
                        <a:t>157</a:t>
                      </a:r>
                    </a:p>
                  </a:txBody>
                  <a:tcPr marL="72000" marR="72000" marT="36000" marB="36000" anchor="ctr">
                    <a:solidFill>
                      <a:srgbClr val="FAF9F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0">
                          <a:solidFill>
                            <a:srgbClr val="191919"/>
                          </a:solidFill>
                          <a:latin typeface="Helvetica Neue"/>
                        </a:rPr>
                        <a:t>AST evaluation, error propagation, cycles</a:t>
                      </a:r>
                    </a:p>
                  </a:txBody>
                  <a:tcPr marL="72000" marR="72000" marT="36000" marB="36000" anchor="ctr">
                    <a:solidFill>
                      <a:srgbClr val="FAF9F5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0">
                          <a:solidFill>
                            <a:srgbClr val="191919"/>
                          </a:solidFill>
                          <a:latin typeface="Helvetica Neue"/>
                        </a:rPr>
                        <a:t>engine.py</a:t>
                      </a:r>
                    </a:p>
                  </a:txBody>
                  <a:tcPr marL="72000" marR="72000" marT="36000" marB="36000" anchor="ctr">
                    <a:solidFill>
                      <a:srgbClr val="FAF9F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0">
                          <a:solidFill>
                            <a:srgbClr val="191919"/>
                          </a:solidFill>
                          <a:latin typeface="Helvetica Neue"/>
                        </a:rPr>
                        <a:t>108</a:t>
                      </a:r>
                    </a:p>
                  </a:txBody>
                  <a:tcPr marL="72000" marR="72000" marT="36000" marB="36000" anchor="ctr">
                    <a:solidFill>
                      <a:srgbClr val="FAF9F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0">
                          <a:solidFill>
                            <a:srgbClr val="191919"/>
                          </a:solidFill>
                          <a:latin typeface="Helvetica Neue"/>
                        </a:rPr>
                        <a:t>Grid, edit controller, diagnostics, explain</a:t>
                      </a:r>
                    </a:p>
                  </a:txBody>
                  <a:tcPr marL="72000" marR="72000" marT="36000" marB="36000" anchor="ctr">
                    <a:solidFill>
                      <a:srgbClr val="FAF9F5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0">
                          <a:solidFill>
                            <a:srgbClr val="191919"/>
                          </a:solidFill>
                          <a:latin typeface="Helvetica Neue"/>
                        </a:rPr>
                        <a:t>cli.py</a:t>
                      </a:r>
                    </a:p>
                  </a:txBody>
                  <a:tcPr marL="72000" marR="72000" marT="36000" marB="36000" anchor="ctr">
                    <a:solidFill>
                      <a:srgbClr val="FAF9F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0">
                          <a:solidFill>
                            <a:srgbClr val="191919"/>
                          </a:solidFill>
                          <a:latin typeface="Helvetica Neue"/>
                        </a:rPr>
                        <a:t>77</a:t>
                      </a:r>
                    </a:p>
                  </a:txBody>
                  <a:tcPr marL="72000" marR="72000" marT="36000" marB="36000" anchor="ctr">
                    <a:solidFill>
                      <a:srgbClr val="FAF9F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0">
                          <a:solidFill>
                            <a:srgbClr val="191919"/>
                          </a:solidFill>
                          <a:latin typeface="Helvetica Neue"/>
                        </a:rPr>
                        <a:t>REPL: interactive and batch modes</a:t>
                      </a:r>
                    </a:p>
                  </a:txBody>
                  <a:tcPr marL="72000" marR="72000" marT="36000" marB="36000" anchor="ctr">
                    <a:solidFill>
                      <a:srgbClr val="FAF9F5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0">
                          <a:solidFill>
                            <a:srgbClr val="191919"/>
                          </a:solidFill>
                          <a:latin typeface="Helvetica Neue"/>
                        </a:rPr>
                        <a:t>tests/</a:t>
                      </a:r>
                    </a:p>
                  </a:txBody>
                  <a:tcPr marL="72000" marR="72000" marT="36000" marB="36000" anchor="ctr">
                    <a:solidFill>
                      <a:srgbClr val="FAF9F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0">
                          <a:solidFill>
                            <a:srgbClr val="191919"/>
                          </a:solidFill>
                          <a:latin typeface="Helvetica Neue"/>
                        </a:rPr>
                        <a:t>220</a:t>
                      </a:r>
                    </a:p>
                  </a:txBody>
                  <a:tcPr marL="72000" marR="72000" marT="36000" marB="36000" anchor="ctr">
                    <a:solidFill>
                      <a:srgbClr val="FAF9F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0">
                          <a:solidFill>
                            <a:srgbClr val="191919"/>
                          </a:solidFill>
                          <a:latin typeface="Helvetica Neue"/>
                        </a:rPr>
                        <a:t>49 tests across three modules</a:t>
                      </a:r>
                    </a:p>
                  </a:txBody>
                  <a:tcPr marL="72000" marR="72000" marT="36000" marB="36000" anchor="ctr">
                    <a:solidFill>
                      <a:srgbClr val="FAF9F5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909560" y="1783080"/>
            <a:ext cx="34564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6E6A63"/>
                </a:solidFill>
                <a:latin typeface="Helvetica Neue"/>
              </a:rPr>
              <a:t>STATUS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09560" y="2130552"/>
            <a:ext cx="3456432" cy="1325880"/>
          </a:xfrm>
          <a:prstGeom prst="roundRect">
            <a:avLst>
              <a:gd name="adj" fmla="val 4000"/>
            </a:avLst>
          </a:prstGeom>
          <a:solidFill>
            <a:srgbClr val="3D3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1312" y="2340864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0" i="0">
                <a:solidFill>
                  <a:srgbClr val="F0EEE6"/>
                </a:solidFill>
                <a:latin typeface="Georgia"/>
              </a:rPr>
              <a:t>1 041 lines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11312" y="2852928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C9C5B8"/>
                </a:solidFill>
                <a:latin typeface="Helvetica Neue"/>
              </a:rPr>
              <a:t>Python 3.11, standard library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3703320"/>
            <a:ext cx="34564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250">
                <a:solidFill>
                  <a:srgbClr val="6E6A63"/>
                </a:solidFill>
                <a:latin typeface="Helvetica Neue"/>
              </a:rPr>
              <a:t>— </a:t>
            </a:r>
            <a:r>
              <a:rPr sz="1250">
                <a:solidFill>
                  <a:srgbClr val="191919"/>
                </a:solidFill>
                <a:latin typeface="Helvetica Neue"/>
              </a:rPr>
              <a:t>Tasks T1.1–T1.10 complete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250">
                <a:solidFill>
                  <a:srgbClr val="6E6A63"/>
                </a:solidFill>
                <a:latin typeface="Helvetica Neue"/>
              </a:rPr>
              <a:t>— </a:t>
            </a:r>
            <a:r>
              <a:rPr sz="1250">
                <a:solidFill>
                  <a:srgbClr val="191919"/>
                </a:solidFill>
                <a:latin typeface="Helvetica Neue"/>
              </a:rPr>
              <a:t>Language specification frozen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250">
                <a:solidFill>
                  <a:srgbClr val="6E6A63"/>
                </a:solidFill>
                <a:latin typeface="Helvetica Neue"/>
              </a:rPr>
              <a:t>— </a:t>
            </a:r>
            <a:r>
              <a:rPr sz="1250">
                <a:solidFill>
                  <a:srgbClr val="191919"/>
                </a:solidFill>
                <a:latin typeface="Helvetica Neue"/>
              </a:rPr>
              <a:t>Runs end to end from source text
to evaluated grid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98932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1">
                <a:solidFill>
                  <a:srgbClr val="73706A"/>
                </a:solidFill>
                <a:latin typeface="Helvetica Neue"/>
              </a:rPr>
              <a:t>The direct AST evaluator is interim — Phase 3 replaces it with the bytecode VM and deletes this path.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6E6A63"/>
                </a:solidFill>
                <a:latin typeface="Helvetica Neue"/>
              </a:rPr>
              <a:t>CAPTURED SESSION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0" i="0">
                <a:solidFill>
                  <a:srgbClr val="191919"/>
                </a:solidFill>
                <a:latin typeface="Georgia"/>
              </a:rPr>
              <a:t>Prototype — Live Demonstration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89888"/>
            <a:ext cx="10543032" cy="12700"/>
          </a:xfrm>
          <a:prstGeom prst="rect">
            <a:avLst/>
          </a:prstGeom>
          <a:solidFill>
            <a:srgbClr val="C9C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92640" y="475488"/>
            <a:ext cx="16733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73706A"/>
                </a:solidFill>
                <a:latin typeface="Helvetica Neue"/>
              </a:rPr>
              <a:t>TABULA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327648"/>
            <a:ext cx="4846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73706A"/>
                </a:solidFill>
                <a:latin typeface="Helvetica Neue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783080"/>
            <a:ext cx="6537960" cy="4343400"/>
          </a:xfrm>
          <a:prstGeom prst="roundRect">
            <a:avLst>
              <a:gd name="adj" fmla="val 3000"/>
            </a:avLst>
          </a:prstGeom>
          <a:solidFill>
            <a:srgbClr val="FAF9F5"/>
          </a:solidFill>
          <a:ln w="9525">
            <a:solidFill>
              <a:srgbClr val="C9C5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6000" rIns="126000" tIns="100000" bIns="100000"/>
          <a:lstStyle/>
          <a:p>
            <a:pPr algn="ctr">
              <a:lnSpc>
                <a:spcPct val="116000"/>
              </a:lnSpc>
            </a:pPr>
            <a:r>
              <a:rPr sz="1050" b="1">
                <a:solidFill>
                  <a:srgbClr val="191919"/>
                </a:solidFill>
                <a:latin typeface="Menlo"/>
              </a:rPr>
              <a:t>tabula&gt; set A1 10</a:t>
            </a:r>
          </a:p>
          <a:p>
            <a:pPr>
              <a:lnSpc>
                <a:spcPct val="116000"/>
              </a:lnSpc>
            </a:pPr>
            <a:r>
              <a:rPr sz="1050" b="1">
                <a:solidFill>
                  <a:srgbClr val="191919"/>
                </a:solidFill>
                <a:latin typeface="Menlo"/>
              </a:rPr>
              <a:t>tabula&gt; set A2 25</a:t>
            </a:r>
          </a:p>
          <a:p>
            <a:pPr>
              <a:lnSpc>
                <a:spcPct val="116000"/>
              </a:lnSpc>
            </a:pPr>
            <a:r>
              <a:rPr sz="1050" b="1">
                <a:solidFill>
                  <a:srgbClr val="191919"/>
                </a:solidFill>
                <a:latin typeface="Menlo"/>
              </a:rPr>
              <a:t>tabula&gt; set A3 40</a:t>
            </a:r>
          </a:p>
          <a:p>
            <a:pPr>
              <a:lnSpc>
                <a:spcPct val="116000"/>
              </a:lnSpc>
            </a:pPr>
            <a:r>
              <a:rPr sz="1050" b="1">
                <a:solidFill>
                  <a:srgbClr val="191919"/>
                </a:solidFill>
                <a:latin typeface="Menlo"/>
              </a:rPr>
              <a:t>tabula&gt; set B1 =SUM(A1:A3)*2</a:t>
            </a:r>
          </a:p>
          <a:p>
            <a:pPr>
              <a:lnSpc>
                <a:spcPct val="116000"/>
              </a:lnSpc>
            </a:pPr>
            <a:r>
              <a:rPr sz="1050" b="1">
                <a:solidFill>
                  <a:srgbClr val="191919"/>
                </a:solidFill>
                <a:latin typeface="Menlo"/>
              </a:rPr>
              <a:t>tabula&gt; set B3 =IF(B2&gt;20, "high", "low")</a:t>
            </a:r>
          </a:p>
          <a:p>
            <a:pPr>
              <a:lnSpc>
                <a:spcPct val="116000"/>
              </a:lnSpc>
            </a:pPr>
            <a:r>
              <a:rPr sz="1050" b="1">
                <a:solidFill>
                  <a:srgbClr val="191919"/>
                </a:solidFill>
                <a:latin typeface="Menlo"/>
              </a:rPr>
              <a:t>tabula&gt; set A2 35</a:t>
            </a:r>
          </a:p>
          <a:p>
            <a:pPr>
              <a:lnSpc>
                <a:spcPct val="116000"/>
              </a:lnSpc>
            </a:pPr>
            <a:r>
              <a:rPr sz="1050" b="1">
                <a:solidFill>
                  <a:srgbClr val="191919"/>
                </a:solidFill>
                <a:latin typeface="Menlo"/>
              </a:rPr>
              <a:t>tabula&gt; get B1</a:t>
            </a:r>
          </a:p>
          <a:p>
            <a:pPr>
              <a:lnSpc>
                <a:spcPct val="116000"/>
              </a:lnSpc>
            </a:pPr>
            <a:r>
              <a:rPr sz="1050" b="0">
                <a:solidFill>
                  <a:srgbClr val="73706A"/>
                </a:solidFill>
                <a:latin typeface="Menlo"/>
              </a:rPr>
              <a:t>B1 = 170   (=SUM(A1:A3)*2)</a:t>
            </a:r>
          </a:p>
          <a:p>
            <a:pPr>
              <a:lnSpc>
                <a:spcPct val="116000"/>
              </a:lnSpc>
            </a:pPr>
            <a:r>
              <a:rPr sz="1050" b="1">
                <a:solidFill>
                  <a:srgbClr val="191919"/>
                </a:solidFill>
                <a:latin typeface="Menlo"/>
              </a:rPr>
              <a:t>tabula&gt; explain B1</a:t>
            </a:r>
          </a:p>
          <a:p>
            <a:pPr>
              <a:lnSpc>
                <a:spcPct val="116000"/>
              </a:lnSpc>
            </a:pPr>
            <a:r>
              <a:rPr sz="1050" b="0">
                <a:solidFill>
                  <a:srgbClr val="73706A"/>
                </a:solidFill>
                <a:latin typeface="Menlo"/>
              </a:rPr>
              <a:t>tokens : SUM ( A1 : A3 ) * 2</a:t>
            </a:r>
          </a:p>
          <a:p>
            <a:pPr>
              <a:lnSpc>
                <a:spcPct val="116000"/>
              </a:lnSpc>
            </a:pPr>
            <a:r>
              <a:rPr sz="850" b="0">
                <a:solidFill>
                  <a:srgbClr val="73706A"/>
                </a:solidFill>
                <a:latin typeface="Menlo"/>
              </a:rPr>
              <a:t>types  : IDENT LPAREN CELLREF COLON CELLREF RPAREN STAR NUMBER</a:t>
            </a:r>
          </a:p>
          <a:p>
            <a:pPr>
              <a:lnSpc>
                <a:spcPct val="116000"/>
              </a:lnSpc>
            </a:pPr>
            <a:r>
              <a:rPr sz="1050" b="0">
                <a:solidFill>
                  <a:srgbClr val="73706A"/>
                </a:solidFill>
                <a:latin typeface="Menlo"/>
              </a:rPr>
              <a:t>ast    : Binary(*)</a:t>
            </a:r>
          </a:p>
          <a:p>
            <a:pPr>
              <a:lnSpc>
                <a:spcPct val="116000"/>
              </a:lnSpc>
            </a:pPr>
            <a:r>
              <a:rPr sz="1050" b="0">
                <a:solidFill>
                  <a:srgbClr val="73706A"/>
                </a:solidFill>
                <a:latin typeface="Menlo"/>
              </a:rPr>
              <a:t>           ├── Call(SUM)</a:t>
            </a:r>
          </a:p>
          <a:p>
            <a:pPr>
              <a:lnSpc>
                <a:spcPct val="116000"/>
              </a:lnSpc>
            </a:pPr>
            <a:r>
              <a:rPr sz="1050" b="0">
                <a:solidFill>
                  <a:srgbClr val="73706A"/>
                </a:solidFill>
                <a:latin typeface="Menlo"/>
              </a:rPr>
              <a:t>           │   └── Range(A1:A3)</a:t>
            </a:r>
          </a:p>
          <a:p>
            <a:pPr>
              <a:lnSpc>
                <a:spcPct val="116000"/>
              </a:lnSpc>
            </a:pPr>
            <a:r>
              <a:rPr sz="1050" b="0">
                <a:solidFill>
                  <a:srgbClr val="73706A"/>
                </a:solidFill>
                <a:latin typeface="Menlo"/>
              </a:rPr>
              <a:t>           └── Number(2)</a:t>
            </a:r>
          </a:p>
          <a:p>
            <a:pPr>
              <a:lnSpc>
                <a:spcPct val="116000"/>
              </a:lnSpc>
            </a:pPr>
            <a:r>
              <a:rPr sz="1050" b="1">
                <a:solidFill>
                  <a:srgbClr val="191919"/>
                </a:solidFill>
                <a:latin typeface="Menlo"/>
              </a:rPr>
              <a:t>tabula&gt; set C1 =SUM(A1:A3</a:t>
            </a:r>
          </a:p>
          <a:p>
            <a:pPr>
              <a:lnSpc>
                <a:spcPct val="116000"/>
              </a:lnSpc>
            </a:pPr>
            <a:r>
              <a:rPr sz="1050" b="0">
                <a:solidFill>
                  <a:srgbClr val="191919"/>
                </a:solidFill>
                <a:latin typeface="Menlo"/>
              </a:rPr>
              <a:t>error[SyntaxError] in C1: expected ')' after argument list</a:t>
            </a:r>
          </a:p>
          <a:p>
            <a:pPr>
              <a:lnSpc>
                <a:spcPct val="116000"/>
              </a:lnSpc>
            </a:pPr>
            <a:r>
              <a:rPr sz="1050" b="0">
                <a:solidFill>
                  <a:srgbClr val="73706A"/>
                </a:solidFill>
                <a:latin typeface="Menlo"/>
              </a:rPr>
              <a:t>  =SUM(A1:A3</a:t>
            </a:r>
          </a:p>
          <a:p>
            <a:pPr>
              <a:lnSpc>
                <a:spcPct val="116000"/>
              </a:lnSpc>
            </a:pPr>
            <a:r>
              <a:rPr sz="1050" b="0">
                <a:solidFill>
                  <a:srgbClr val="73706A"/>
                </a:solidFill>
                <a:latin typeface="Menlo"/>
              </a:rPr>
              <a:t>            ^</a:t>
            </a:r>
          </a:p>
          <a:p>
            <a:pPr>
              <a:lnSpc>
                <a:spcPct val="116000"/>
              </a:lnSpc>
            </a:pPr>
            <a:r>
              <a:rPr sz="1050" b="1">
                <a:solidFill>
                  <a:srgbClr val="191919"/>
                </a:solidFill>
                <a:latin typeface="Menlo"/>
              </a:rPr>
              <a:t>tabula&gt; set A5 =B5   /   set B5 =A5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1783080"/>
            <a:ext cx="3410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6E6A63"/>
                </a:solidFill>
                <a:latin typeface="Helvetica Neue"/>
              </a:rPr>
              <a:t>RESULTING GRID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2130552"/>
            <a:ext cx="3410712" cy="1600200"/>
          </a:xfrm>
          <a:prstGeom prst="roundRect">
            <a:avLst>
              <a:gd name="adj" fmla="val 3000"/>
            </a:avLst>
          </a:prstGeom>
          <a:solidFill>
            <a:srgbClr val="FAF9F5"/>
          </a:solidFill>
          <a:ln w="9525">
            <a:solidFill>
              <a:srgbClr val="C9C5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6000" rIns="126000" tIns="100000" bIns="100000"/>
          <a:lstStyle/>
          <a:p>
            <a:pPr algn="ctr">
              <a:lnSpc>
                <a:spcPct val="116000"/>
              </a:lnSpc>
            </a:pPr>
            <a:r>
              <a:rPr sz="1050" b="0">
                <a:solidFill>
                  <a:srgbClr val="73706A"/>
                </a:solidFill>
                <a:latin typeface="Menlo"/>
              </a:rPr>
              <a:t>     A        B        C</a:t>
            </a:r>
          </a:p>
          <a:p>
            <a:pPr>
              <a:lnSpc>
                <a:spcPct val="116000"/>
              </a:lnSpc>
            </a:pPr>
            <a:r>
              <a:rPr sz="1050" b="0">
                <a:solidFill>
                  <a:srgbClr val="191919"/>
                </a:solidFill>
                <a:latin typeface="Menlo"/>
              </a:rPr>
              <a:t>1    10       170      #VALUE!</a:t>
            </a:r>
          </a:p>
          <a:p>
            <a:pPr>
              <a:lnSpc>
                <a:spcPct val="116000"/>
              </a:lnSpc>
            </a:pPr>
            <a:r>
              <a:rPr sz="1050" b="0">
                <a:solidFill>
                  <a:srgbClr val="191919"/>
                </a:solidFill>
                <a:latin typeface="Menlo"/>
              </a:rPr>
              <a:t>2    35       28.33    #DIV/0!</a:t>
            </a:r>
          </a:p>
          <a:p>
            <a:pPr>
              <a:lnSpc>
                <a:spcPct val="116000"/>
              </a:lnSpc>
            </a:pPr>
            <a:r>
              <a:rPr sz="1050" b="0">
                <a:solidFill>
                  <a:srgbClr val="191919"/>
                </a:solidFill>
                <a:latin typeface="Menlo"/>
              </a:rPr>
              <a:t>3    40       high</a:t>
            </a:r>
          </a:p>
          <a:p>
            <a:pPr>
              <a:lnSpc>
                <a:spcPct val="116000"/>
              </a:lnSpc>
            </a:pPr>
            <a:r>
              <a:rPr sz="1050" b="0">
                <a:solidFill>
                  <a:srgbClr val="191919"/>
                </a:solidFill>
                <a:latin typeface="Menlo"/>
              </a:rPr>
              <a:t>5    #CYCLE!  #CYCLE!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3977639"/>
            <a:ext cx="34107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</a:pPr>
            <a:r>
              <a:rPr sz="1250">
                <a:solidFill>
                  <a:srgbClr val="6E6A63"/>
                </a:solidFill>
                <a:latin typeface="Helvetica Neue"/>
              </a:rPr>
              <a:t>— </a:t>
            </a:r>
            <a:r>
              <a:rPr sz="1250">
                <a:solidFill>
                  <a:srgbClr val="191919"/>
                </a:solidFill>
                <a:latin typeface="Helvetica Neue"/>
              </a:rPr>
              <a:t>Edit propagates: B1 → 170</a:t>
            </a:r>
          </a:p>
          <a:p>
            <a:pPr>
              <a:lnSpc>
                <a:spcPct val="122000"/>
              </a:lnSpc>
              <a:spcAft>
                <a:spcPts val="900"/>
              </a:spcAft>
            </a:pPr>
            <a:r>
              <a:rPr sz="1250">
                <a:solidFill>
                  <a:srgbClr val="6E6A63"/>
                </a:solidFill>
                <a:latin typeface="Helvetica Neue"/>
              </a:rPr>
              <a:t>— </a:t>
            </a:r>
            <a:r>
              <a:rPr sz="1250">
                <a:solidFill>
                  <a:srgbClr val="191919"/>
                </a:solidFill>
                <a:latin typeface="Helvetica Neue"/>
              </a:rPr>
              <a:t>Syntax error located by caret</a:t>
            </a:r>
          </a:p>
          <a:p>
            <a:pPr>
              <a:lnSpc>
                <a:spcPct val="122000"/>
              </a:lnSpc>
              <a:spcAft>
                <a:spcPts val="900"/>
              </a:spcAft>
            </a:pPr>
            <a:r>
              <a:rPr sz="1250">
                <a:solidFill>
                  <a:srgbClr val="6E6A63"/>
                </a:solidFill>
                <a:latin typeface="Helvetica Neue"/>
              </a:rPr>
              <a:t>— </a:t>
            </a:r>
            <a:r>
              <a:rPr sz="1250">
                <a:solidFill>
                  <a:srgbClr val="191919"/>
                </a:solidFill>
                <a:latin typeface="Helvetica Neue"/>
              </a:rPr>
              <a:t>Cycle detected across A5/B5</a:t>
            </a:r>
          </a:p>
          <a:p>
            <a:pPr>
              <a:lnSpc>
                <a:spcPct val="122000"/>
              </a:lnSpc>
              <a:spcAft>
                <a:spcPts val="900"/>
              </a:spcAft>
            </a:pPr>
            <a:r>
              <a:rPr sz="1250">
                <a:solidFill>
                  <a:srgbClr val="6E6A63"/>
                </a:solidFill>
                <a:latin typeface="Helvetica Neue"/>
              </a:rPr>
              <a:t>— </a:t>
            </a:r>
            <a:r>
              <a:rPr sz="1250">
                <a:solidFill>
                  <a:srgbClr val="191919"/>
                </a:solidFill>
                <a:latin typeface="Helvetica Neue"/>
              </a:rPr>
              <a:t>Every healthy cell still evaluates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6E6A63"/>
                </a:solidFill>
                <a:latin typeface="Helvetica Neue"/>
              </a:rPr>
              <a:t>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0" i="0">
                <a:solidFill>
                  <a:srgbClr val="191919"/>
                </a:solidFill>
                <a:latin typeface="Georgia"/>
              </a:rPr>
              <a:t>Prototype — Testing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89888"/>
            <a:ext cx="10543032" cy="12700"/>
          </a:xfrm>
          <a:prstGeom prst="rect">
            <a:avLst/>
          </a:prstGeom>
          <a:solidFill>
            <a:srgbClr val="C9C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92640" y="475488"/>
            <a:ext cx="16733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73706A"/>
                </a:solidFill>
                <a:latin typeface="Helvetica Neue"/>
              </a:rPr>
              <a:t>TABULA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327648"/>
            <a:ext cx="4846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73706A"/>
                </a:solidFill>
                <a:latin typeface="Helvetica Neue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783080"/>
            <a:ext cx="6537960" cy="868680"/>
          </a:xfrm>
          <a:prstGeom prst="roundRect">
            <a:avLst>
              <a:gd name="adj" fmla="val 3000"/>
            </a:avLst>
          </a:prstGeom>
          <a:solidFill>
            <a:srgbClr val="FAF9F5"/>
          </a:solidFill>
          <a:ln w="9525">
            <a:solidFill>
              <a:srgbClr val="C9C5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6000" rIns="126000" tIns="100000" bIns="100000"/>
          <a:lstStyle/>
          <a:p>
            <a:pPr algn="ctr">
              <a:lnSpc>
                <a:spcPct val="116000"/>
              </a:lnSpc>
            </a:pPr>
            <a:r>
              <a:rPr sz="1100" b="1">
                <a:solidFill>
                  <a:srgbClr val="191919"/>
                </a:solidFill>
                <a:latin typeface="Menlo"/>
              </a:rPr>
              <a:t>$ python3 -m pytest tests/ -q</a:t>
            </a:r>
          </a:p>
          <a:p>
            <a:pPr>
              <a:lnSpc>
                <a:spcPct val="116000"/>
              </a:lnSpc>
            </a:pPr>
            <a:r>
              <a:rPr sz="1100" b="0">
                <a:solidFill>
                  <a:srgbClr val="73706A"/>
                </a:solidFill>
                <a:latin typeface="Menlo"/>
              </a:rPr>
              <a:t>.................................................        [100%]</a:t>
            </a:r>
          </a:p>
          <a:p>
            <a:pPr>
              <a:lnSpc>
                <a:spcPct val="116000"/>
              </a:lnSpc>
            </a:pPr>
            <a:r>
              <a:rPr sz="1100" b="1">
                <a:solidFill>
                  <a:srgbClr val="191919"/>
                </a:solidFill>
                <a:latin typeface="Menlo"/>
              </a:rPr>
              <a:t>49 passed in 0.02s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22960" y="2880360"/>
          <a:ext cx="6537959" cy="26151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7360"/>
                <a:gridCol w="822960"/>
                <a:gridCol w="3977639"/>
              </a:tblGrid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050" b="1">
                          <a:solidFill>
                            <a:srgbClr val="191919"/>
                          </a:solidFill>
                          <a:latin typeface="Helvetica Neue"/>
                        </a:rPr>
                        <a:t>Module</a:t>
                      </a:r>
                    </a:p>
                  </a:txBody>
                  <a:tcPr marL="72000" marR="72000" marT="36000" marB="36000" anchor="ctr">
                    <a:solidFill>
                      <a:srgbClr val="E4E1D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050" b="1">
                          <a:solidFill>
                            <a:srgbClr val="191919"/>
                          </a:solidFill>
                          <a:latin typeface="Helvetica Neue"/>
                        </a:rPr>
                        <a:t>Tests</a:t>
                      </a:r>
                    </a:p>
                  </a:txBody>
                  <a:tcPr marL="72000" marR="72000" marT="36000" marB="36000" anchor="ctr">
                    <a:solidFill>
                      <a:srgbClr val="E4E1D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050" b="1">
                          <a:solidFill>
                            <a:srgbClr val="191919"/>
                          </a:solidFill>
                          <a:latin typeface="Helvetica Neue"/>
                        </a:rPr>
                        <a:t>Covers</a:t>
                      </a:r>
                    </a:p>
                  </a:txBody>
                  <a:tcPr marL="72000" marR="72000" marT="36000" marB="36000" anchor="ctr">
                    <a:solidFill>
                      <a:srgbClr val="E4E1D7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0">
                          <a:solidFill>
                            <a:srgbClr val="191919"/>
                          </a:solidFill>
                          <a:latin typeface="Helvetica Neue"/>
                        </a:rPr>
                        <a:t>test_lexer.py</a:t>
                      </a:r>
                    </a:p>
                  </a:txBody>
                  <a:tcPr marL="72000" marR="72000" marT="36000" marB="36000" anchor="ctr">
                    <a:solidFill>
                      <a:srgbClr val="FAF9F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0">
                          <a:solidFill>
                            <a:srgbClr val="191919"/>
                          </a:solidFill>
                          <a:latin typeface="Helvetica Neue"/>
                        </a:rPr>
                        <a:t>15</a:t>
                      </a:r>
                    </a:p>
                  </a:txBody>
                  <a:tcPr marL="72000" marR="72000" marT="36000" marB="36000" anchor="ctr">
                    <a:solidFill>
                      <a:srgbClr val="FAF9F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0">
                          <a:solidFill>
                            <a:srgbClr val="191919"/>
                          </a:solidFill>
                          <a:latin typeface="Helvetica Neue"/>
                        </a:rPr>
                        <a:t>Token classes, escapes, maximal munch,
reference classification, error kinds</a:t>
                      </a:r>
                    </a:p>
                  </a:txBody>
                  <a:tcPr marL="72000" marR="72000" marT="36000" marB="36000" anchor="ctr">
                    <a:solidFill>
                      <a:srgbClr val="FAF9F5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0">
                          <a:solidFill>
                            <a:srgbClr val="191919"/>
                          </a:solidFill>
                          <a:latin typeface="Helvetica Neue"/>
                        </a:rPr>
                        <a:t>test_parser.py</a:t>
                      </a:r>
                    </a:p>
                  </a:txBody>
                  <a:tcPr marL="72000" marR="72000" marT="36000" marB="36000" anchor="ctr">
                    <a:solidFill>
                      <a:srgbClr val="FAF9F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0">
                          <a:solidFill>
                            <a:srgbClr val="191919"/>
                          </a:solidFill>
                          <a:latin typeface="Helvetica Neue"/>
                        </a:rPr>
                        <a:t>14</a:t>
                      </a:r>
                    </a:p>
                  </a:txBody>
                  <a:tcPr marL="72000" marR="72000" marT="36000" marB="36000" anchor="ctr">
                    <a:solidFill>
                      <a:srgbClr val="FAF9F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0">
                          <a:solidFill>
                            <a:srgbClr val="191919"/>
                          </a:solidFill>
                          <a:latin typeface="Helvetica Neue"/>
                        </a:rPr>
                        <a:t>Precedence and associativity table,
syntax errors by message and position</a:t>
                      </a:r>
                    </a:p>
                  </a:txBody>
                  <a:tcPr marL="72000" marR="72000" marT="36000" marB="36000" anchor="ctr">
                    <a:solidFill>
                      <a:srgbClr val="FAF9F5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0">
                          <a:solidFill>
                            <a:srgbClr val="191919"/>
                          </a:solidFill>
                          <a:latin typeface="Helvetica Neue"/>
                        </a:rPr>
                        <a:t>test_evaluator.py</a:t>
                      </a:r>
                    </a:p>
                  </a:txBody>
                  <a:tcPr marL="72000" marR="72000" marT="36000" marB="36000" anchor="ctr">
                    <a:solidFill>
                      <a:srgbClr val="FAF9F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0">
                          <a:solidFill>
                            <a:srgbClr val="191919"/>
                          </a:solidFill>
                          <a:latin typeface="Helvetica Neue"/>
                        </a:rPr>
                        <a:t>20</a:t>
                      </a:r>
                    </a:p>
                  </a:txBody>
                  <a:tcPr marL="72000" marR="72000" marT="36000" marB="36000" anchor="ctr">
                    <a:solidFill>
                      <a:srgbClr val="FAF9F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0">
                          <a:solidFill>
                            <a:srgbClr val="191919"/>
                          </a:solidFill>
                          <a:latin typeface="Helvetica Neue"/>
                        </a:rPr>
                        <a:t>Semantics, coercions, error values,
cycles, per-cell containment</a:t>
                      </a:r>
                    </a:p>
                  </a:txBody>
                  <a:tcPr marL="72000" marR="72000" marT="36000" marB="36000" anchor="ctr">
                    <a:solidFill>
                      <a:srgbClr val="FAF9F5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909560" y="1783080"/>
            <a:ext cx="34564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6E6A63"/>
                </a:solidFill>
                <a:latin typeface="Helvetica Neue"/>
              </a:rPr>
              <a:t>NOTABLE ASSERTIONS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2194560"/>
            <a:ext cx="34564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1100"/>
              </a:spcAft>
            </a:pPr>
            <a:r>
              <a:rPr sz="1250">
                <a:solidFill>
                  <a:srgbClr val="6E6A63"/>
                </a:solidFill>
                <a:latin typeface="Helvetica Neue"/>
              </a:rPr>
              <a:t>— </a:t>
            </a:r>
            <a:r>
              <a:rPr sz="1250">
                <a:solidFill>
                  <a:srgbClr val="191919"/>
                </a:solidFill>
                <a:latin typeface="Helvetica Neue"/>
              </a:rPr>
              <a:t>=2^3^2 is 512 — right associativity</a:t>
            </a:r>
          </a:p>
          <a:p>
            <a:pPr>
              <a:lnSpc>
                <a:spcPct val="122000"/>
              </a:lnSpc>
              <a:spcAft>
                <a:spcPts val="1100"/>
              </a:spcAft>
            </a:pPr>
            <a:r>
              <a:rPr sz="1250">
                <a:solidFill>
                  <a:srgbClr val="6E6A63"/>
                </a:solidFill>
                <a:latin typeface="Helvetica Neue"/>
              </a:rPr>
              <a:t>— </a:t>
            </a:r>
            <a:r>
              <a:rPr sz="1250">
                <a:solidFill>
                  <a:srgbClr val="191919"/>
                </a:solidFill>
                <a:latin typeface="Helvetica Neue"/>
              </a:rPr>
              <a:t>=-A1^2 parses as (-A1)^2</a:t>
            </a:r>
          </a:p>
          <a:p>
            <a:pPr>
              <a:lnSpc>
                <a:spcPct val="122000"/>
              </a:lnSpc>
              <a:spcAft>
                <a:spcPts val="1100"/>
              </a:spcAft>
            </a:pPr>
            <a:r>
              <a:rPr sz="1250">
                <a:solidFill>
                  <a:srgbClr val="6E6A63"/>
                </a:solidFill>
                <a:latin typeface="Helvetica Neue"/>
              </a:rPr>
              <a:t>— </a:t>
            </a:r>
            <a:r>
              <a:rPr sz="1250">
                <a:solidFill>
                  <a:srgbClr val="191919"/>
                </a:solidFill>
                <a:latin typeface="Helvetica Neue"/>
              </a:rPr>
              <a:t>Syntax errors assert both message
and column position</a:t>
            </a:r>
          </a:p>
          <a:p>
            <a:pPr>
              <a:lnSpc>
                <a:spcPct val="122000"/>
              </a:lnSpc>
              <a:spcAft>
                <a:spcPts val="1100"/>
              </a:spcAft>
            </a:pPr>
            <a:r>
              <a:rPr sz="1250">
                <a:solidFill>
                  <a:srgbClr val="6E6A63"/>
                </a:solidFill>
                <a:latin typeface="Helvetica Neue"/>
              </a:rPr>
              <a:t>— </a:t>
            </a:r>
            <a:r>
              <a:rPr sz="1250">
                <a:solidFill>
                  <a:srgbClr val="191919"/>
                </a:solidFill>
                <a:latin typeface="Helvetica Neue"/>
              </a:rPr>
              <a:t>IF with an untaken 1/0 branch stays
finite — laziness proven</a:t>
            </a:r>
          </a:p>
          <a:p>
            <a:pPr>
              <a:lnSpc>
                <a:spcPct val="122000"/>
              </a:lnSpc>
              <a:spcAft>
                <a:spcPts val="1100"/>
              </a:spcAft>
            </a:pPr>
            <a:r>
              <a:rPr sz="1250">
                <a:solidFill>
                  <a:srgbClr val="6E6A63"/>
                </a:solidFill>
                <a:latin typeface="Helvetica Neue"/>
              </a:rPr>
              <a:t>— </a:t>
            </a:r>
            <a:r>
              <a:rPr sz="1250">
                <a:solidFill>
                  <a:srgbClr val="191919"/>
                </a:solidFill>
                <a:latin typeface="Helvetica Neue"/>
              </a:rPr>
              <a:t>A broken cell leaves its neighbours
evaluating correctly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6E6A63"/>
                </a:solidFill>
                <a:latin typeface="Helvetica Neue"/>
              </a:rPr>
              <a:t>PHASES 2 AND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0" i="0">
                <a:solidFill>
                  <a:srgbClr val="191919"/>
                </a:solidFill>
                <a:latin typeface="Georgia"/>
              </a:rPr>
              <a:t>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89888"/>
            <a:ext cx="10543032" cy="12700"/>
          </a:xfrm>
          <a:prstGeom prst="rect">
            <a:avLst/>
          </a:prstGeom>
          <a:solidFill>
            <a:srgbClr val="C9C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92640" y="475488"/>
            <a:ext cx="16733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73706A"/>
                </a:solidFill>
                <a:latin typeface="Helvetica Neue"/>
              </a:rPr>
              <a:t>TABULA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327648"/>
            <a:ext cx="4846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73706A"/>
                </a:solidFill>
                <a:latin typeface="Helvetica Neue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3246120" cy="3566160"/>
          </a:xfrm>
          <a:prstGeom prst="roundRect">
            <a:avLst>
              <a:gd name="adj" fmla="val 4000"/>
            </a:avLst>
          </a:prstGeom>
          <a:solidFill>
            <a:srgbClr val="3D3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52144" y="2084831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C9C5B8"/>
                </a:solidFill>
                <a:latin typeface="Helvetica Neue"/>
              </a:rPr>
              <a:t>COMPLETE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" y="2395728"/>
            <a:ext cx="2560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0" i="0">
                <a:solidFill>
                  <a:srgbClr val="F0EEE6"/>
                </a:solidFill>
                <a:latin typeface="Georgia"/>
              </a:rPr>
              <a:t>Phase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52144" y="2962656"/>
            <a:ext cx="2587752" cy="12700"/>
          </a:xfrm>
          <a:prstGeom prst="rect">
            <a:avLst/>
          </a:prstGeom>
          <a:solidFill>
            <a:srgbClr val="6E6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52144" y="3182112"/>
            <a:ext cx="260604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250">
                <a:solidFill>
                  <a:srgbClr val="C9C5B8"/>
                </a:solidFill>
                <a:latin typeface="Helvetica Neue"/>
              </a:rPr>
              <a:t>Language specification frozen</a:t>
            </a:r>
          </a:p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250">
                <a:solidFill>
                  <a:srgbClr val="C9C5B8"/>
                </a:solidFill>
                <a:latin typeface="Helvetica Neue"/>
              </a:rPr>
              <a:t>Lexer and Pratt parser</a:t>
            </a:r>
          </a:p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250">
                <a:solidFill>
                  <a:srgbClr val="C9C5B8"/>
                </a:solidFill>
                <a:latin typeface="Helvetica Neue"/>
              </a:rPr>
              <a:t>Prototype evaluator and REPL</a:t>
            </a:r>
          </a:p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250">
                <a:solidFill>
                  <a:srgbClr val="C9C5B8"/>
                </a:solidFill>
                <a:latin typeface="Helvetica Neue"/>
              </a:rPr>
              <a:t>49 tests green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25696" y="1828800"/>
            <a:ext cx="3246120" cy="3566160"/>
          </a:xfrm>
          <a:prstGeom prst="roundRect">
            <a:avLst>
              <a:gd name="adj" fmla="val 4000"/>
            </a:avLst>
          </a:prstGeom>
          <a:solidFill>
            <a:srgbClr val="FAF9F5"/>
          </a:solidFill>
          <a:ln w="9525">
            <a:solidFill>
              <a:srgbClr val="C9C5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2084831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6E6A63"/>
                </a:solidFill>
                <a:latin typeface="Helvetica Neue"/>
              </a:rPr>
              <a:t>NEXT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395728"/>
            <a:ext cx="2560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0" i="0">
                <a:solidFill>
                  <a:srgbClr val="191919"/>
                </a:solidFill>
                <a:latin typeface="Georgia"/>
              </a:rPr>
              <a:t>Phase 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0" y="2962656"/>
            <a:ext cx="2587752" cy="12700"/>
          </a:xfrm>
          <a:prstGeom prst="rect">
            <a:avLst/>
          </a:prstGeom>
          <a:solidFill>
            <a:srgbClr val="C9C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0" y="3182112"/>
            <a:ext cx="260604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250">
                <a:solidFill>
                  <a:srgbClr val="191919"/>
                </a:solidFill>
                <a:latin typeface="Helvetica Neue"/>
              </a:rPr>
              <a:t>Function registry and named ranges</a:t>
            </a:r>
          </a:p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250">
                <a:solidFill>
                  <a:srgbClr val="191919"/>
                </a:solidFill>
                <a:latin typeface="Helvetica Neue"/>
              </a:rPr>
              <a:t>Full semantic analysis</a:t>
            </a:r>
          </a:p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250">
                <a:solidFill>
                  <a:srgbClr val="191919"/>
                </a:solidFill>
                <a:latin typeface="Helvetica Neue"/>
              </a:rPr>
              <a:t>Precedent extraction</a:t>
            </a:r>
          </a:p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250">
                <a:solidFill>
                  <a:srgbClr val="191919"/>
                </a:solidFill>
                <a:latin typeface="Helvetica Neue"/>
              </a:rPr>
              <a:t>Dependency graph and cycle detection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28432" y="1828800"/>
            <a:ext cx="3246120" cy="3566160"/>
          </a:xfrm>
          <a:prstGeom prst="roundRect">
            <a:avLst>
              <a:gd name="adj" fmla="val 4000"/>
            </a:avLst>
          </a:prstGeom>
          <a:solidFill>
            <a:srgbClr val="FAF9F5"/>
          </a:solidFill>
          <a:ln w="9525">
            <a:solidFill>
              <a:srgbClr val="C9C5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57616" y="2084831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6E6A63"/>
                </a:solidFill>
                <a:latin typeface="Helvetica Neue"/>
              </a:rPr>
              <a:t>FINAL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7616" y="2395728"/>
            <a:ext cx="2560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0" i="0">
                <a:solidFill>
                  <a:srgbClr val="191919"/>
                </a:solidFill>
                <a:latin typeface="Georgia"/>
              </a:rPr>
              <a:t>Phase 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57616" y="2962656"/>
            <a:ext cx="2587752" cy="12700"/>
          </a:xfrm>
          <a:prstGeom prst="rect">
            <a:avLst/>
          </a:prstGeom>
          <a:solidFill>
            <a:srgbClr val="C9C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57616" y="3182112"/>
            <a:ext cx="260604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250">
                <a:solidFill>
                  <a:srgbClr val="191919"/>
                </a:solidFill>
                <a:latin typeface="Helvetica Neue"/>
              </a:rPr>
              <a:t>AST optimizer and peephole</a:t>
            </a:r>
          </a:p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250">
                <a:solidFill>
                  <a:srgbClr val="191919"/>
                </a:solidFill>
                <a:latin typeface="Helvetica Neue"/>
              </a:rPr>
              <a:t>Bytecode compiler and VM</a:t>
            </a:r>
          </a:p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250">
                <a:solidFill>
                  <a:srgbClr val="191919"/>
                </a:solidFill>
                <a:latin typeface="Helvetica Neue"/>
              </a:rPr>
              <a:t>True incremental recomputation</a:t>
            </a:r>
          </a:p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250">
                <a:solidFill>
                  <a:srgbClr val="191919"/>
                </a:solidFill>
                <a:latin typeface="Helvetica Neue"/>
              </a:rPr>
              <a:t>Benchmarks and HTML report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3D3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10543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6E6A63"/>
                </a:solidFill>
                <a:latin typeface="Helvetica Neue"/>
              </a:rPr>
              <a:t>EXPECTED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31720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3400" b="0" i="0">
                <a:solidFill>
                  <a:srgbClr val="191919"/>
                </a:solidFill>
                <a:latin typeface="Georgia"/>
              </a:rPr>
              <a:t>A spreadsheet engine whose every stage can be inspected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529584"/>
            <a:ext cx="10543032" cy="12700"/>
          </a:xfrm>
          <a:prstGeom prst="rect">
            <a:avLst/>
          </a:prstGeom>
          <a:solidFill>
            <a:srgbClr val="C9C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730752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 i="0">
                <a:solidFill>
                  <a:srgbClr val="73706A"/>
                </a:solidFill>
                <a:latin typeface="Helvetica Neue"/>
              </a:rPr>
              <a:t>— Correct evaluation across the full function library with faithful error semantics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480560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 i="0">
                <a:solidFill>
                  <a:srgbClr val="73706A"/>
                </a:solidFill>
                <a:latin typeface="Helvetica Neue"/>
              </a:rPr>
              <a:t>— Live circular-reference detection reporting the cycle path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3730752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 i="0">
                <a:solidFill>
                  <a:srgbClr val="73706A"/>
                </a:solidFill>
                <a:latin typeface="Helvetica Neue"/>
              </a:rPr>
              <a:t>— Measured incrementality and optimization on 10 000-cell benchmarks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4480560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 i="0">
                <a:solidFill>
                  <a:srgbClr val="73706A"/>
                </a:solidFill>
                <a:latin typeface="Helvetica Neue"/>
              </a:rPr>
              <a:t>— A per-cell explain view and a self-contained HTML pipeline report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44068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0" i="0">
                <a:solidFill>
                  <a:srgbClr val="191919"/>
                </a:solidFill>
                <a:latin typeface="Georgia"/>
              </a:rPr>
              <a:t>Thank you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9436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73706A"/>
                </a:solidFill>
                <a:latin typeface="Helvetica Neue"/>
              </a:rPr>
              <a:t>Shashank Bhat M · 24BDS0390 · Guide: Prof. Ranjithkumar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5943600"/>
            <a:ext cx="36850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6E6A63"/>
                </a:solidFill>
                <a:latin typeface="Helvetica Neue"/>
              </a:rPr>
              <a:t>QUESTIONS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